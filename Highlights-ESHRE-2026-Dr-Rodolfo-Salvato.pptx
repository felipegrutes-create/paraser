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dPt>
            <c:idx val="0"/>
            <c:spPr>
              <a:solidFill>
                <a:srgbClr val="1F6FB2"/>
              </a:solidFill>
              <a:ln w="2540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35B04A"/>
              </a:solidFill>
              <a:ln w="25400">
                <a:solidFill>
                  <a:srgbClr val="FFFFFF"/>
                </a:solidFill>
              </a:ln>
            </c:spPr>
          </c:dPt>
          <c:cat>
            <c:strRef>
              <c:f>Sheet1!$A$2:$A$3</c:f>
              <c:strCache>
                <c:ptCount val="2"/>
                <c:pt idx="0">
                  <c:v>Clínico</c:v>
                </c:pt>
                <c:pt idx="1">
                  <c:v>Cirúrgico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62.9</c:v>
                </c:pt>
                <c:pt idx="1">
                  <c:v>37.1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400" b="1">
                  <a:solidFill>
                    <a:srgbClr val="FFFFFF"/>
                  </a:solidFill>
                  <a:latin typeface="Segoe U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1200">
              <a:latin typeface="Segoe U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latin typeface="Segoe UI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Sem endometriose</c:v>
                </c:pt>
              </c:strCache>
            </c:strRef>
          </c:tx>
          <c:spPr>
            <a:ln w="38100">
              <a:solidFill>
                <a:srgbClr val="9FB6CE"/>
              </a:solidFill>
            </a:ln>
          </c:spPr>
          <c:marker>
            <c:symbol val="circle"/>
            <c:size val="8"/>
            <c:spPr>
              <a:solidFill>
                <a:srgbClr val="9FB6CE"/>
              </a:solidFill>
              <a:ln w="17780">
                <a:solidFill>
                  <a:srgbClr val="FFFFFF"/>
                </a:solidFill>
              </a:ln>
            </c:spPr>
          </c:marker>
          <c:dLbls>
            <c:txPr>
              <a:bodyPr/>
              <a:lstStyle/>
              <a:p>
                <a:pPr>
                  <a:defRPr>
                    <a:solidFill>
                      <a:srgbClr val="9FB6CE"/>
                    </a:solidFill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Percentil 25</c:v>
                </c:pt>
                <c:pt idx="1">
                  <c:v>Mediana (P50)</c:v>
                </c:pt>
                <c:pt idx="2">
                  <c:v>Percentil 75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1.1</c:v>
                </c:pt>
                <c:pt idx="1">
                  <c:v>2.16</c:v>
                </c:pt>
                <c:pt idx="2">
                  <c:v>3.72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Endometriose</c:v>
                </c:pt>
              </c:strCache>
            </c:strRef>
          </c:tx>
          <c:spPr>
            <a:ln w="38100">
              <a:solidFill>
                <a:srgbClr val="1F6FB2"/>
              </a:solidFill>
            </a:ln>
          </c:spPr>
          <c:marker>
            <c:symbol val="circle"/>
            <c:size val="8"/>
            <c:spPr>
              <a:solidFill>
                <a:srgbClr val="1F6FB2"/>
              </a:solidFill>
              <a:ln w="17780">
                <a:solidFill>
                  <a:srgbClr val="FFFFFF"/>
                </a:solidFill>
              </a:ln>
            </c:spPr>
          </c:marker>
          <c:dLbls>
            <c:txPr>
              <a:bodyPr/>
              <a:lstStyle/>
              <a:p>
                <a:pPr>
                  <a:defRPr>
                    <a:solidFill>
                      <a:srgbClr val="1F6FB2"/>
                    </a:solidFill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Percentil 25</c:v>
                </c:pt>
                <c:pt idx="1">
                  <c:v>Mediana (P50)</c:v>
                </c:pt>
                <c:pt idx="2">
                  <c:v>Percentil 75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0.94</c:v>
                </c:pt>
                <c:pt idx="1">
                  <c:v>1.82</c:v>
                </c:pt>
                <c:pt idx="2">
                  <c:v>3.1</c:v>
                </c:pt>
              </c:numCache>
            </c:numRef>
          </c:val>
          <c:smooth val="0"/>
        </c:ser>
        <c:dLbls>
          <c:numFmt formatCode="0.00" sourceLinked="0"/>
          <c:txPr>
            <a:bodyPr/>
            <a:lstStyle/>
            <a:p>
              <a:pPr>
                <a:defRPr sz="1100" b="1">
                  <a:latin typeface="Segoe U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8E0EA"/>
            </a:solidFill>
          </a:ln>
        </c:spPr>
        <c:txPr>
          <a:bodyPr/>
          <a:lstStyle/>
          <a:p>
            <a:pPr>
              <a:defRPr sz="1250">
                <a:solidFill>
                  <a:srgbClr val="22303F"/>
                </a:solidFill>
                <a:latin typeface="Segoe U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4.2"/>
          <c:min val="0.0"/>
        </c:scaling>
        <c:delete val="0"/>
        <c:axPos val="l"/>
        <c:majorGridlines>
          <c:spPr>
            <a:ln>
              <a:solidFill>
                <a:srgbClr val="EDF1F6"/>
              </a:solidFill>
            </a:ln>
          </c:spPr>
        </c:majorGridlines>
        <c:numFmt formatCode="0.00" sourceLinked="0"/>
        <c:majorTickMark val="out"/>
        <c:minorTickMark val="none"/>
        <c:tickLblPos val="nextTo"/>
        <c:spPr>
          <a:ln>
            <a:solidFill>
              <a:srgbClr val="D8E0EA"/>
            </a:solidFill>
          </a:ln>
        </c:spPr>
        <c:txPr>
          <a:bodyPr/>
          <a:lstStyle/>
          <a:p>
            <a:pPr>
              <a:defRPr sz="1200">
                <a:solidFill>
                  <a:srgbClr val="22303F"/>
                </a:solidFill>
                <a:latin typeface="Segoe UI"/>
              </a:defRPr>
            </a:pPr>
          </a:p>
        </c:txPr>
        <c:crossAx val="2118791784"/>
        <c:crosses val="autoZero"/>
        <c:majorUnit val="1.0"/>
      </c:valAx>
    </c:plotArea>
    <c:legend>
      <c:legendPos val="t"/>
      <c:layout/>
      <c:overlay val="0"/>
      <c:txPr>
        <a:bodyPr/>
        <a:lstStyle/>
        <a:p>
          <a:pPr>
            <a:defRPr sz="1200">
              <a:latin typeface="Segoe U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latin typeface="Segoe U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Clínico</c:v>
                </c:pt>
              </c:strCache>
            </c:strRef>
          </c:tx>
          <c:spPr>
            <a:ln w="38100">
              <a:solidFill>
                <a:srgbClr val="1F6FB2"/>
              </a:solidFill>
            </a:ln>
          </c:spPr>
          <c:marker>
            <c:symbol val="circle"/>
            <c:size val="8"/>
            <c:spPr>
              <a:solidFill>
                <a:srgbClr val="1F6FB2"/>
              </a:solidFill>
              <a:ln w="17780">
                <a:solidFill>
                  <a:srgbClr val="FFFFFF"/>
                </a:solidFill>
              </a:ln>
            </c:spPr>
          </c:marker>
          <c:dLbls>
            <c:txPr>
              <a:bodyPr/>
              <a:lstStyle/>
              <a:p>
                <a:pPr>
                  <a:defRPr>
                    <a:solidFill>
                      <a:srgbClr val="1F6FB2"/>
                    </a:solidFill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Percentil 25</c:v>
                </c:pt>
                <c:pt idx="1">
                  <c:v>Mediana (P50)</c:v>
                </c:pt>
                <c:pt idx="2">
                  <c:v>Percentil 75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0.92</c:v>
                </c:pt>
                <c:pt idx="1">
                  <c:v>1.82</c:v>
                </c:pt>
                <c:pt idx="2">
                  <c:v>3.14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Cirúrgico</c:v>
                </c:pt>
              </c:strCache>
            </c:strRef>
          </c:tx>
          <c:spPr>
            <a:ln w="38100">
              <a:solidFill>
                <a:srgbClr val="35B04A"/>
              </a:solidFill>
            </a:ln>
          </c:spPr>
          <c:marker>
            <c:symbol val="circle"/>
            <c:size val="8"/>
            <c:spPr>
              <a:solidFill>
                <a:srgbClr val="35B04A"/>
              </a:solidFill>
              <a:ln w="17780">
                <a:solidFill>
                  <a:srgbClr val="FFFFFF"/>
                </a:solidFill>
              </a:ln>
            </c:spPr>
          </c:marker>
          <c:dLbls>
            <c:txPr>
              <a:bodyPr/>
              <a:lstStyle/>
              <a:p>
                <a:pPr>
                  <a:defRPr>
                    <a:solidFill>
                      <a:srgbClr val="35B04A"/>
                    </a:solidFill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Percentil 25</c:v>
                </c:pt>
                <c:pt idx="1">
                  <c:v>Mediana (P50)</c:v>
                </c:pt>
                <c:pt idx="2">
                  <c:v>Percentil 75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0.99</c:v>
                </c:pt>
                <c:pt idx="1">
                  <c:v>1.82</c:v>
                </c:pt>
                <c:pt idx="2">
                  <c:v>3.07</c:v>
                </c:pt>
              </c:numCache>
            </c:numRef>
          </c:val>
          <c:smooth val="0"/>
        </c:ser>
        <c:dLbls>
          <c:numFmt formatCode="0.00" sourceLinked="0"/>
          <c:txPr>
            <a:bodyPr/>
            <a:lstStyle/>
            <a:p>
              <a:pPr>
                <a:defRPr sz="1100" b="1">
                  <a:latin typeface="Segoe U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8E0EA"/>
            </a:solidFill>
          </a:ln>
        </c:spPr>
        <c:txPr>
          <a:bodyPr/>
          <a:lstStyle/>
          <a:p>
            <a:pPr>
              <a:defRPr sz="1250">
                <a:solidFill>
                  <a:srgbClr val="22303F"/>
                </a:solidFill>
                <a:latin typeface="Segoe U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4.2"/>
          <c:min val="0.0"/>
        </c:scaling>
        <c:delete val="0"/>
        <c:axPos val="l"/>
        <c:majorGridlines>
          <c:spPr>
            <a:ln>
              <a:solidFill>
                <a:srgbClr val="EDF1F6"/>
              </a:solidFill>
            </a:ln>
          </c:spPr>
        </c:majorGridlines>
        <c:numFmt formatCode="0.00" sourceLinked="0"/>
        <c:majorTickMark val="out"/>
        <c:minorTickMark val="none"/>
        <c:tickLblPos val="nextTo"/>
        <c:spPr>
          <a:ln>
            <a:solidFill>
              <a:srgbClr val="D8E0EA"/>
            </a:solidFill>
          </a:ln>
        </c:spPr>
        <c:txPr>
          <a:bodyPr/>
          <a:lstStyle/>
          <a:p>
            <a:pPr>
              <a:defRPr sz="1200">
                <a:solidFill>
                  <a:srgbClr val="22303F"/>
                </a:solidFill>
                <a:latin typeface="Segoe UI"/>
              </a:defRPr>
            </a:pPr>
          </a:p>
        </c:txPr>
        <c:crossAx val="2118791784"/>
        <c:crosses val="autoZero"/>
        <c:majorUnit val="1.0"/>
      </c:valAx>
    </c:plotArea>
    <c:legend>
      <c:legendPos val="t"/>
      <c:layout/>
      <c:overlay val="0"/>
      <c:txPr>
        <a:bodyPr/>
        <a:lstStyle/>
        <a:p>
          <a:pPr>
            <a:defRPr sz="1200">
              <a:latin typeface="Segoe U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latin typeface="Segoe U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dPt>
            <c:idx val="0"/>
            <c:spPr>
              <a:solidFill>
                <a:srgbClr val="9FB6CE"/>
              </a:solidFill>
              <a:ln>
                <a:noFill/>
              </a:ln>
            </c:spPr>
          </c:dPt>
          <c:dPt>
            <c:idx val="1"/>
            <c:spPr>
              <a:solidFill>
                <a:srgbClr val="1F6FB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Sem endometriose</c:v>
                </c:pt>
                <c:pt idx="1">
                  <c:v>Endometriose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29.88</c:v>
                </c:pt>
                <c:pt idx="1">
                  <c:v>34.82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sz="1400" b="1">
                  <a:latin typeface="Segoe U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9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8E0EA"/>
            </a:solidFill>
          </a:ln>
        </c:spPr>
        <c:txPr>
          <a:bodyPr/>
          <a:lstStyle/>
          <a:p>
            <a:pPr>
              <a:defRPr sz="1300">
                <a:solidFill>
                  <a:srgbClr val="22303F"/>
                </a:solidFill>
                <a:latin typeface="Segoe U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5.0"/>
          <c:min val="0.0"/>
        </c:scaling>
        <c:delete val="0"/>
        <c:axPos val="l"/>
        <c:majorGridlines>
          <c:spPr>
            <a:ln>
              <a:solidFill>
                <a:srgbClr val="EDF1F6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spPr>
          <a:ln>
            <a:solidFill>
              <a:srgbClr val="D8E0EA"/>
            </a:solidFill>
          </a:ln>
        </c:spPr>
        <c:txPr>
          <a:bodyPr/>
          <a:lstStyle/>
          <a:p>
            <a:pPr>
              <a:defRPr sz="1200">
                <a:solidFill>
                  <a:srgbClr val="22303F"/>
                </a:solidFill>
                <a:latin typeface="Segoe UI"/>
              </a:defRPr>
            </a:pPr>
          </a:p>
        </c:txPr>
        <c:crossAx val="-2068027336"/>
        <c:crosses val="autoZero"/>
        <c:majorUnit val="10.0"/>
      </c:valAx>
    </c:plotArea>
    <c:dispBlanksAs val="gap"/>
  </c:chart>
  <c:txPr>
    <a:bodyPr/>
    <a:lstStyle/>
    <a:p>
      <a:pPr>
        <a:defRPr sz="1200">
          <a:latin typeface="Segoe U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dPt>
            <c:idx val="0"/>
            <c:spPr>
              <a:solidFill>
                <a:srgbClr val="1F6FB2"/>
              </a:solidFill>
              <a:ln>
                <a:noFill/>
              </a:ln>
            </c:spPr>
          </c:dPt>
          <c:dPt>
            <c:idx val="1"/>
            <c:spPr>
              <a:solidFill>
                <a:srgbClr val="35B04A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Clínico</c:v>
                </c:pt>
                <c:pt idx="1">
                  <c:v>Cirúrgico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1.23</c:v>
                </c:pt>
                <c:pt idx="1">
                  <c:v>1.16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400" b="1">
                  <a:latin typeface="Segoe U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9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8E0EA"/>
            </a:solidFill>
          </a:ln>
        </c:spPr>
        <c:txPr>
          <a:bodyPr/>
          <a:lstStyle/>
          <a:p>
            <a:pPr>
              <a:defRPr sz="1300">
                <a:solidFill>
                  <a:srgbClr val="22303F"/>
                </a:solidFill>
                <a:latin typeface="Segoe U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35"/>
          <c:min val="1.0"/>
        </c:scaling>
        <c:delete val="0"/>
        <c:axPos val="l"/>
        <c:majorGridlines>
          <c:spPr>
            <a:ln>
              <a:solidFill>
                <a:srgbClr val="EDF1F6"/>
              </a:solidFill>
            </a:ln>
          </c:spPr>
        </c:majorGridlines>
        <c:numFmt formatCode="0.00" sourceLinked="0"/>
        <c:majorTickMark val="out"/>
        <c:minorTickMark val="none"/>
        <c:tickLblPos val="nextTo"/>
        <c:spPr>
          <a:ln>
            <a:solidFill>
              <a:srgbClr val="D8E0EA"/>
            </a:solidFill>
          </a:ln>
        </c:spPr>
        <c:txPr>
          <a:bodyPr/>
          <a:lstStyle/>
          <a:p>
            <a:pPr>
              <a:defRPr sz="1200">
                <a:solidFill>
                  <a:srgbClr val="22303F"/>
                </a:solidFill>
                <a:latin typeface="Segoe UI"/>
              </a:defRPr>
            </a:pPr>
          </a:p>
        </c:txPr>
        <c:crossAx val="-2068027336"/>
        <c:crosses val="autoZero"/>
        <c:majorUnit val="0.1"/>
      </c:valAx>
    </c:plotArea>
    <c:dispBlanksAs val="gap"/>
  </c:chart>
  <c:txPr>
    <a:bodyPr/>
    <a:lstStyle/>
    <a:p>
      <a:pPr>
        <a:defRPr sz="1200">
          <a:latin typeface="Segoe U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ver_bg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gradFill rotWithShape="1">
            <a:gsLst>
              <a:gs pos="0">
                <a:srgbClr val="0F1F44"/>
              </a:gs>
              <a:gs pos="48000">
                <a:srgbClr val="115E63"/>
              </a:gs>
              <a:gs pos="100000">
                <a:srgbClr val="2E7D46"/>
              </a:gs>
            </a:gsLst>
            <a:lin ang="228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463040"/>
            <a:ext cx="6400800" cy="6400800"/>
          </a:xfrm>
          <a:prstGeom prst="ellipse">
            <a:avLst/>
          </a:prstGeom>
          <a:gradFill rotWithShape="1">
            <a:gsLst>
              <a:gs pos="0">
                <a:srgbClr val="FFFFFF">
                  <a:alpha val="10000"/>
                </a:srgbClr>
              </a:gs>
              <a:gs pos="100000">
                <a:srgbClr val="FFFFFF">
                  <a:alpha val="0"/>
                </a:srgbClr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92640" y="3017520"/>
            <a:ext cx="4754880" cy="4754880"/>
          </a:xfrm>
          <a:prstGeom prst="ellipse">
            <a:avLst/>
          </a:prstGeom>
          <a:gradFill rotWithShape="1">
            <a:gsLst>
              <a:gs pos="0">
                <a:srgbClr val="7AC73E">
                  <a:alpha val="16000"/>
                </a:srgbClr>
              </a:gs>
              <a:gs pos="100000">
                <a:srgbClr val="7AC73E">
                  <a:alpha val="0"/>
                </a:srgbClr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ver_edge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7AC7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ot0"/>
          <p:cNvSpPr/>
          <p:nvPr/>
        </p:nvSpPr>
        <p:spPr>
          <a:xfrm>
            <a:off x="11292840" y="777240"/>
            <a:ext cx="512064" cy="512064"/>
          </a:xfrm>
          <a:prstGeom prst="ellipse">
            <a:avLst/>
          </a:prstGeom>
          <a:solidFill>
            <a:srgbClr val="172A54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ot1"/>
          <p:cNvSpPr/>
          <p:nvPr/>
        </p:nvSpPr>
        <p:spPr>
          <a:xfrm>
            <a:off x="11292840" y="1856231"/>
            <a:ext cx="512064" cy="512064"/>
          </a:xfrm>
          <a:prstGeom prst="ellipse">
            <a:avLst/>
          </a:prstGeom>
          <a:solidFill>
            <a:srgbClr val="1F6FB2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ot2"/>
          <p:cNvSpPr/>
          <p:nvPr/>
        </p:nvSpPr>
        <p:spPr>
          <a:xfrm>
            <a:off x="11292840" y="2935224"/>
            <a:ext cx="512064" cy="512064"/>
          </a:xfrm>
          <a:prstGeom prst="ellipse">
            <a:avLst/>
          </a:prstGeom>
          <a:solidFill>
            <a:srgbClr val="14A09A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ot3"/>
          <p:cNvSpPr/>
          <p:nvPr/>
        </p:nvSpPr>
        <p:spPr>
          <a:xfrm>
            <a:off x="11292840" y="4014215"/>
            <a:ext cx="512064" cy="512064"/>
          </a:xfrm>
          <a:prstGeom prst="ellipse">
            <a:avLst/>
          </a:prstGeom>
          <a:solidFill>
            <a:srgbClr val="35B04A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ot4"/>
          <p:cNvSpPr/>
          <p:nvPr/>
        </p:nvSpPr>
        <p:spPr>
          <a:xfrm>
            <a:off x="11292840" y="5093207"/>
            <a:ext cx="512064" cy="512064"/>
          </a:xfrm>
          <a:prstGeom prst="ellipse">
            <a:avLst/>
          </a:prstGeom>
          <a:solidFill>
            <a:srgbClr val="7AC73E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91440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9FE6C9"/>
                </a:solidFill>
                <a:latin typeface="Segoe UI"/>
              </a:rPr>
              <a:t>HIGHLIGHTS ESHRE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600200"/>
            <a:ext cx="96926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>
                <a:solidFill>
                  <a:srgbClr val="FFFFFF"/>
                </a:solidFill>
                <a:latin typeface="Segoe UI"/>
              </a:rPr>
              <a:t>O impacto da endometriose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>
                <a:solidFill>
                  <a:srgbClr val="FFFFFF"/>
                </a:solidFill>
                <a:latin typeface="Segoe UI"/>
              </a:rPr>
              <a:t>nos níveis de AMH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3401568"/>
            <a:ext cx="2194560" cy="73152"/>
          </a:xfrm>
          <a:prstGeom prst="rect">
            <a:avLst/>
          </a:prstGeom>
          <a:gradFill rotWithShape="1">
            <a:gsLst>
              <a:gs pos="0">
                <a:srgbClr val="7AC73E"/>
              </a:gs>
              <a:gs pos="100000">
                <a:srgbClr val="FFFFFF">
                  <a:alpha val="60000"/>
                </a:srgbClr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675887"/>
            <a:ext cx="9509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>
                <a:solidFill>
                  <a:srgbClr val="DCE9F0"/>
                </a:solidFill>
                <a:latin typeface="Segoe UI"/>
              </a:rPr>
              <a:t>Um estudo de coorte populacional sobre endometriose e reserva ovariana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983480"/>
            <a:ext cx="9509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Dr. Rodolfo Salvato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559552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B9CBD8"/>
                </a:solidFill>
                <a:latin typeface="Segoe UI"/>
              </a:rPr>
              <a:t>Baseado em: Ghali B, Bougie O, Reinblatt S, Shellenberger J, Li W, Velez MP.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B9CBD8"/>
                </a:solidFill>
                <a:latin typeface="Segoe UI"/>
              </a:rPr>
              <a:t>“Endometriosis and ovarian reserve: a cohort study”. ESHRE 2026 · Human Reproduction, suppl. (O-140).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50">
        <p159:morph option="byObject"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bbon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gradFill rotWithShape="1">
            <a:gsLst>
              <a:gs pos="0">
                <a:srgbClr val="172A54"/>
              </a:gs>
              <a:gs pos="55000">
                <a:srgbClr val="14A09A"/>
              </a:gs>
              <a:gs pos="100000">
                <a:srgbClr val="35B04A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ghost"/>
          <p:cNvSpPr/>
          <p:nvPr/>
        </p:nvSpPr>
        <p:spPr>
          <a:xfrm>
            <a:off x="8869680" y="4160520"/>
            <a:ext cx="5120640" cy="5120640"/>
          </a:xfrm>
          <a:prstGeom prst="ellipse">
            <a:avLst/>
          </a:prstGeom>
          <a:gradFill rotWithShape="1">
            <a:gsLst>
              <a:gs pos="0">
                <a:srgbClr val="E9F5F3"/>
              </a:gs>
              <a:gs pos="100000">
                <a:srgbClr val="FFFFFF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ot0"/>
          <p:cNvSpPr/>
          <p:nvPr/>
        </p:nvSpPr>
        <p:spPr>
          <a:xfrm>
            <a:off x="566928" y="420624"/>
            <a:ext cx="123444" cy="123444"/>
          </a:xfrm>
          <a:prstGeom prst="ellipse">
            <a:avLst/>
          </a:prstGeom>
          <a:solidFill>
            <a:srgbClr val="17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ot1"/>
          <p:cNvSpPr/>
          <p:nvPr/>
        </p:nvSpPr>
        <p:spPr>
          <a:xfrm>
            <a:off x="740664" y="420624"/>
            <a:ext cx="123444" cy="123444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ot2"/>
          <p:cNvSpPr/>
          <p:nvPr/>
        </p:nvSpPr>
        <p:spPr>
          <a:xfrm>
            <a:off x="914400" y="420624"/>
            <a:ext cx="123444" cy="123444"/>
          </a:xfrm>
          <a:prstGeom prst="ellipse">
            <a:avLst/>
          </a:prstGeom>
          <a:solidFill>
            <a:srgbClr val="14A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ot3"/>
          <p:cNvSpPr/>
          <p:nvPr/>
        </p:nvSpPr>
        <p:spPr>
          <a:xfrm>
            <a:off x="1088136" y="420624"/>
            <a:ext cx="123444" cy="123444"/>
          </a:xfrm>
          <a:prstGeom prst="ellipse">
            <a:avLst/>
          </a:prstGeom>
          <a:solidFill>
            <a:srgbClr val="35B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ot4"/>
          <p:cNvSpPr/>
          <p:nvPr/>
        </p:nvSpPr>
        <p:spPr>
          <a:xfrm>
            <a:off x="1261872" y="420624"/>
            <a:ext cx="123444" cy="123444"/>
          </a:xfrm>
          <a:prstGeom prst="ellipse">
            <a:avLst/>
          </a:prstGeom>
          <a:solidFill>
            <a:srgbClr val="7AC7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74980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4A09A"/>
                </a:solidFill>
                <a:latin typeface="Segoe UI"/>
              </a:rPr>
              <a:t>VISÃO GERAL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60704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>
                <a:solidFill>
                  <a:srgbClr val="172A54"/>
                </a:solidFill>
                <a:latin typeface="Segoe UI"/>
              </a:rPr>
              <a:t>O estudo em uma frase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773936"/>
            <a:ext cx="1143000" cy="54864"/>
          </a:xfrm>
          <a:prstGeom prst="rect">
            <a:avLst/>
          </a:prstGeom>
          <a:gradFill rotWithShape="1">
            <a:gsLst>
              <a:gs pos="0">
                <a:srgbClr val="14A09A"/>
              </a:gs>
              <a:gs pos="100000">
                <a:srgbClr val="35B04A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874519"/>
            <a:ext cx="1069848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14A09A"/>
                </a:solidFill>
                <a:latin typeface="Segoe UI"/>
              </a:rPr>
              <a:t>●  </a:t>
            </a:r>
            <a:r>
              <a:rPr sz="1800" b="1">
                <a:solidFill>
                  <a:srgbClr val="172A54"/>
                </a:solidFill>
                <a:latin typeface="Segoe UI"/>
              </a:rPr>
              <a:t>Coorte populacional canadense (Ontário): </a:t>
            </a:r>
            <a:r>
              <a:rPr sz="1800">
                <a:solidFill>
                  <a:srgbClr val="22303F"/>
                </a:solidFill>
                <a:latin typeface="Segoe UI"/>
              </a:rPr>
              <a:t>58.177 mulheres que dosaram AMH entre 2013 e 2024.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14A09A"/>
                </a:solidFill>
                <a:latin typeface="Segoe UI"/>
              </a:rPr>
              <a:t>●  </a:t>
            </a:r>
            <a:r>
              <a:rPr sz="1800" b="1">
                <a:solidFill>
                  <a:srgbClr val="172A54"/>
                </a:solidFill>
                <a:latin typeface="Segoe UI"/>
              </a:rPr>
              <a:t>A pergunta: </a:t>
            </a:r>
            <a:r>
              <a:rPr sz="1800">
                <a:solidFill>
                  <a:srgbClr val="22303F"/>
                </a:solidFill>
                <a:latin typeface="Segoe UI"/>
              </a:rPr>
              <a:t>a endometriose, por si só, reduz a reserva ovariana? Ou o dano vem só da cirurgia?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14A09A"/>
                </a:solidFill>
                <a:latin typeface="Segoe UI"/>
              </a:rPr>
              <a:t>●  </a:t>
            </a:r>
            <a:r>
              <a:rPr sz="1800" b="1">
                <a:solidFill>
                  <a:srgbClr val="172A54"/>
                </a:solidFill>
                <a:latin typeface="Segoe UI"/>
              </a:rPr>
              <a:t>A resposta: </a:t>
            </a:r>
            <a:r>
              <a:rPr sz="1800">
                <a:solidFill>
                  <a:srgbClr val="22303F"/>
                </a:solidFill>
                <a:latin typeface="Segoe UI"/>
              </a:rPr>
              <a:t>mulheres com endometriose têm AMH mais baixo, mesmo quando não operadas.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480560"/>
            <a:ext cx="10881360" cy="1234440"/>
          </a:xfrm>
          <a:prstGeom prst="roundRect">
            <a:avLst>
              <a:gd name="adj" fmla="val 6000"/>
            </a:avLst>
          </a:prstGeom>
          <a:solidFill>
            <a:srgbClr val="E9F5F0"/>
          </a:solidFill>
          <a:ln>
            <a:noFill/>
          </a:ln>
          <a:effectLst>
            <a:outerShdw blurRad="91440" dist="32004" dir="5400000" rotWithShape="0">
              <a:srgbClr val="16302B">
                <a:alpha val="1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4480560"/>
            <a:ext cx="128016" cy="1234440"/>
          </a:xfrm>
          <a:prstGeom prst="rect">
            <a:avLst/>
          </a:prstGeom>
          <a:solidFill>
            <a:srgbClr val="35B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681728"/>
            <a:ext cx="102412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35B04A"/>
                </a:solidFill>
                <a:latin typeface="Segoe UI"/>
              </a:rPr>
              <a:t>Mensagem central:  </a:t>
            </a:r>
            <a:r>
              <a:rPr sz="1700" b="0">
                <a:solidFill>
                  <a:srgbClr val="22303F"/>
                </a:solidFill>
                <a:latin typeface="Segoe UI"/>
              </a:rPr>
              <a:t>a endometriose é um sinal de alerta para a reserva ovariana, independentemente de ter havido cirurgia.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6419088"/>
            <a:ext cx="11064240" cy="11887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172A54"/>
                </a:solidFill>
                <a:latin typeface="Segoe UI"/>
              </a:rPr>
              <a:t>Highlights ESHRE 2026</a:t>
            </a:r>
            <a:r>
              <a:rPr sz="900" b="0">
                <a:solidFill>
                  <a:srgbClr val="647486"/>
                </a:solidFill>
                <a:latin typeface="Segoe UI"/>
              </a:rPr>
              <a:t>   ·   Dr. Rodolfo Salvato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60" y="6473952"/>
            <a:ext cx="12070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6"/>
                </a:solidFill>
                <a:latin typeface="Segoe UI"/>
              </a:rPr>
              <a:t>02 / 20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50">
        <p159:morph option="byObject"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bbon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gradFill rotWithShape="1">
            <a:gsLst>
              <a:gs pos="0">
                <a:srgbClr val="172A54"/>
              </a:gs>
              <a:gs pos="55000">
                <a:srgbClr val="14A09A"/>
              </a:gs>
              <a:gs pos="100000">
                <a:srgbClr val="35B04A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ghost"/>
          <p:cNvSpPr/>
          <p:nvPr/>
        </p:nvSpPr>
        <p:spPr>
          <a:xfrm>
            <a:off x="8869680" y="4160520"/>
            <a:ext cx="5120640" cy="5120640"/>
          </a:xfrm>
          <a:prstGeom prst="ellipse">
            <a:avLst/>
          </a:prstGeom>
          <a:gradFill rotWithShape="1">
            <a:gsLst>
              <a:gs pos="0">
                <a:srgbClr val="E9F5F3"/>
              </a:gs>
              <a:gs pos="100000">
                <a:srgbClr val="FFFFFF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ot0"/>
          <p:cNvSpPr/>
          <p:nvPr/>
        </p:nvSpPr>
        <p:spPr>
          <a:xfrm>
            <a:off x="566928" y="420624"/>
            <a:ext cx="123444" cy="123444"/>
          </a:xfrm>
          <a:prstGeom prst="ellipse">
            <a:avLst/>
          </a:prstGeom>
          <a:solidFill>
            <a:srgbClr val="17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ot1"/>
          <p:cNvSpPr/>
          <p:nvPr/>
        </p:nvSpPr>
        <p:spPr>
          <a:xfrm>
            <a:off x="740664" y="420624"/>
            <a:ext cx="123444" cy="123444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ot2"/>
          <p:cNvSpPr/>
          <p:nvPr/>
        </p:nvSpPr>
        <p:spPr>
          <a:xfrm>
            <a:off x="914400" y="420624"/>
            <a:ext cx="123444" cy="123444"/>
          </a:xfrm>
          <a:prstGeom prst="ellipse">
            <a:avLst/>
          </a:prstGeom>
          <a:solidFill>
            <a:srgbClr val="14A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ot3"/>
          <p:cNvSpPr/>
          <p:nvPr/>
        </p:nvSpPr>
        <p:spPr>
          <a:xfrm>
            <a:off x="1088136" y="420624"/>
            <a:ext cx="123444" cy="123444"/>
          </a:xfrm>
          <a:prstGeom prst="ellipse">
            <a:avLst/>
          </a:prstGeom>
          <a:solidFill>
            <a:srgbClr val="35B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ot4"/>
          <p:cNvSpPr/>
          <p:nvPr/>
        </p:nvSpPr>
        <p:spPr>
          <a:xfrm>
            <a:off x="1261872" y="420624"/>
            <a:ext cx="123444" cy="123444"/>
          </a:xfrm>
          <a:prstGeom prst="ellipse">
            <a:avLst/>
          </a:prstGeom>
          <a:solidFill>
            <a:srgbClr val="7AC7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74980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4A09A"/>
                </a:solidFill>
                <a:latin typeface="Segoe UI"/>
              </a:rPr>
              <a:t>POR QUE ISSO IMPORTA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60704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>
                <a:solidFill>
                  <a:srgbClr val="172A54"/>
                </a:solidFill>
                <a:latin typeface="Segoe UI"/>
              </a:rPr>
              <a:t>Endometriose: o tamanho do problema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773936"/>
            <a:ext cx="1143000" cy="54864"/>
          </a:xfrm>
          <a:prstGeom prst="rect">
            <a:avLst/>
          </a:prstGeom>
          <a:gradFill rotWithShape="1">
            <a:gsLst>
              <a:gs pos="0">
                <a:srgbClr val="14A09A"/>
              </a:gs>
              <a:gs pos="100000">
                <a:srgbClr val="35B04A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" y="2194560"/>
            <a:ext cx="3413759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91440" dist="32004" dir="5400000" rotWithShape="0">
              <a:srgbClr val="16302B">
                <a:alpha val="1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8368" y="2194560"/>
            <a:ext cx="3413759" cy="128016"/>
          </a:xfrm>
          <a:prstGeom prst="roundRect">
            <a:avLst/>
          </a:prstGeom>
          <a:gradFill rotWithShape="1">
            <a:gsLst>
              <a:gs pos="0">
                <a:srgbClr val="1F6FB2"/>
              </a:gs>
              <a:gs pos="100000">
                <a:srgbClr val="479CD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468879"/>
            <a:ext cx="29565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1F6FB2"/>
                </a:solidFill>
                <a:latin typeface="Segoe UI"/>
              </a:rPr>
              <a:t>~10%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328415"/>
            <a:ext cx="2956559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2303F"/>
                </a:solidFill>
                <a:latin typeface="Segoe UI"/>
              </a:rPr>
              <a:t>das mulheres em idade reprodutiva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647486"/>
                </a:solidFill>
                <a:latin typeface="Segoe UI"/>
              </a:rPr>
              <a:t>OMS · As-Sanie, 2025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7887" y="2194560"/>
            <a:ext cx="3413759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91440" dist="32004" dir="5400000" rotWithShape="0">
              <a:srgbClr val="16302B">
                <a:alpha val="1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437887" y="2194560"/>
            <a:ext cx="3413759" cy="128016"/>
          </a:xfrm>
          <a:prstGeom prst="roundRect">
            <a:avLst/>
          </a:prstGeom>
          <a:gradFill rotWithShape="1">
            <a:gsLst>
              <a:gs pos="0">
                <a:srgbClr val="14A09A"/>
              </a:gs>
              <a:gs pos="100000">
                <a:srgbClr val="3CCDB8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93920" y="2468879"/>
            <a:ext cx="29565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14A09A"/>
                </a:solidFill>
                <a:latin typeface="Segoe UI"/>
              </a:rPr>
              <a:t>~190 mi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93920" y="3328415"/>
            <a:ext cx="2956559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2303F"/>
                </a:solidFill>
                <a:latin typeface="Segoe UI"/>
              </a:rPr>
              <a:t>de pessoas afetadas no mundo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647486"/>
                </a:solidFill>
                <a:latin typeface="Segoe UI"/>
              </a:rPr>
              <a:t>OMS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17408" y="2194560"/>
            <a:ext cx="3413759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91440" dist="32004" dir="5400000" rotWithShape="0">
              <a:srgbClr val="16302B">
                <a:alpha val="1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17408" y="2194560"/>
            <a:ext cx="3413759" cy="128016"/>
          </a:xfrm>
          <a:prstGeom prst="roundRect">
            <a:avLst/>
          </a:prstGeom>
          <a:gradFill rotWithShape="1">
            <a:gsLst>
              <a:gs pos="0">
                <a:srgbClr val="35B04A"/>
              </a:gs>
              <a:gs pos="100000">
                <a:srgbClr val="5DDD68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73440" y="2468879"/>
            <a:ext cx="29565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35B04A"/>
                </a:solidFill>
                <a:latin typeface="Segoe UI"/>
              </a:rPr>
              <a:t>até 57%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73440" y="3328415"/>
            <a:ext cx="2956559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2303F"/>
                </a:solidFill>
                <a:latin typeface="Segoe UI"/>
              </a:rPr>
              <a:t>em quem tem infertilidade ou dor pélvica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647486"/>
                </a:solidFill>
                <a:latin typeface="Segoe UI"/>
              </a:rPr>
              <a:t>Saraswat, 2025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419088"/>
            <a:ext cx="11064240" cy="11887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172A54"/>
                </a:solidFill>
                <a:latin typeface="Segoe UI"/>
              </a:rPr>
              <a:t>Highlights ESHRE 2026</a:t>
            </a:r>
            <a:r>
              <a:rPr sz="900" b="0">
                <a:solidFill>
                  <a:srgbClr val="647486"/>
                </a:solidFill>
                <a:latin typeface="Segoe UI"/>
              </a:rPr>
              <a:t>   ·   Dr. Rodolfo Salvato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0" y="6473952"/>
            <a:ext cx="12070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6"/>
                </a:solidFill>
                <a:latin typeface="Segoe UI"/>
              </a:rPr>
              <a:t>03 / 20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50">
        <p159:morph option="byObject"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bbon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gradFill rotWithShape="1">
            <a:gsLst>
              <a:gs pos="0">
                <a:srgbClr val="172A54"/>
              </a:gs>
              <a:gs pos="55000">
                <a:srgbClr val="14A09A"/>
              </a:gs>
              <a:gs pos="100000">
                <a:srgbClr val="35B04A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ghost"/>
          <p:cNvSpPr/>
          <p:nvPr/>
        </p:nvSpPr>
        <p:spPr>
          <a:xfrm>
            <a:off x="8869680" y="4160520"/>
            <a:ext cx="5120640" cy="5120640"/>
          </a:xfrm>
          <a:prstGeom prst="ellipse">
            <a:avLst/>
          </a:prstGeom>
          <a:gradFill rotWithShape="1">
            <a:gsLst>
              <a:gs pos="0">
                <a:srgbClr val="E9F5F3"/>
              </a:gs>
              <a:gs pos="100000">
                <a:srgbClr val="FFFFFF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ot0"/>
          <p:cNvSpPr/>
          <p:nvPr/>
        </p:nvSpPr>
        <p:spPr>
          <a:xfrm>
            <a:off x="566928" y="420624"/>
            <a:ext cx="123444" cy="123444"/>
          </a:xfrm>
          <a:prstGeom prst="ellipse">
            <a:avLst/>
          </a:prstGeom>
          <a:solidFill>
            <a:srgbClr val="17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ot1"/>
          <p:cNvSpPr/>
          <p:nvPr/>
        </p:nvSpPr>
        <p:spPr>
          <a:xfrm>
            <a:off x="740664" y="420624"/>
            <a:ext cx="123444" cy="123444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ot2"/>
          <p:cNvSpPr/>
          <p:nvPr/>
        </p:nvSpPr>
        <p:spPr>
          <a:xfrm>
            <a:off x="914400" y="420624"/>
            <a:ext cx="123444" cy="123444"/>
          </a:xfrm>
          <a:prstGeom prst="ellipse">
            <a:avLst/>
          </a:prstGeom>
          <a:solidFill>
            <a:srgbClr val="14A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ot3"/>
          <p:cNvSpPr/>
          <p:nvPr/>
        </p:nvSpPr>
        <p:spPr>
          <a:xfrm>
            <a:off x="1088136" y="420624"/>
            <a:ext cx="123444" cy="123444"/>
          </a:xfrm>
          <a:prstGeom prst="ellipse">
            <a:avLst/>
          </a:prstGeom>
          <a:solidFill>
            <a:srgbClr val="35B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ot4"/>
          <p:cNvSpPr/>
          <p:nvPr/>
        </p:nvSpPr>
        <p:spPr>
          <a:xfrm>
            <a:off x="1261872" y="420624"/>
            <a:ext cx="123444" cy="123444"/>
          </a:xfrm>
          <a:prstGeom prst="ellipse">
            <a:avLst/>
          </a:prstGeom>
          <a:solidFill>
            <a:srgbClr val="7AC7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74980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4A09A"/>
                </a:solidFill>
                <a:latin typeface="Segoe UI"/>
              </a:rPr>
              <a:t>MECANISMOS PROPOSTOS (MAPPA, 2024)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60704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>
                <a:solidFill>
                  <a:srgbClr val="172A54"/>
                </a:solidFill>
                <a:latin typeface="Segoe UI"/>
              </a:rPr>
              <a:t>Como a endometriose afeta a fertilidade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773936"/>
            <a:ext cx="1143000" cy="54864"/>
          </a:xfrm>
          <a:prstGeom prst="rect">
            <a:avLst/>
          </a:prstGeom>
          <a:gradFill rotWithShape="1">
            <a:gsLst>
              <a:gs pos="0">
                <a:srgbClr val="14A09A"/>
              </a:gs>
              <a:gs pos="100000">
                <a:srgbClr val="35B04A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874519"/>
            <a:ext cx="1069848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1300"/>
              </a:spcAft>
            </a:pPr>
            <a:r>
              <a:rPr sz="1400" b="1">
                <a:solidFill>
                  <a:srgbClr val="14A09A"/>
                </a:solidFill>
                <a:latin typeface="Segoe UI"/>
              </a:rPr>
              <a:t>●  </a:t>
            </a:r>
            <a:r>
              <a:rPr sz="1800" b="1">
                <a:solidFill>
                  <a:srgbClr val="172A54"/>
                </a:solidFill>
                <a:latin typeface="Segoe UI"/>
              </a:rPr>
              <a:t>Distorção da anatomia pélvica </a:t>
            </a:r>
            <a:r>
              <a:rPr sz="1800">
                <a:solidFill>
                  <a:srgbClr val="22303F"/>
                </a:solidFill>
                <a:latin typeface="Segoe UI"/>
              </a:rPr>
              <a:t>e doença tubária.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300"/>
              </a:spcAft>
            </a:pPr>
            <a:r>
              <a:rPr sz="1400" b="1">
                <a:solidFill>
                  <a:srgbClr val="14A09A"/>
                </a:solidFill>
                <a:latin typeface="Segoe UI"/>
              </a:rPr>
              <a:t>●  </a:t>
            </a:r>
            <a:r>
              <a:rPr sz="1800" b="1">
                <a:solidFill>
                  <a:srgbClr val="172A54"/>
                </a:solidFill>
                <a:latin typeface="Segoe UI"/>
              </a:rPr>
              <a:t>Destruição direta do tecido ovariano </a:t>
            </a:r>
            <a:r>
              <a:rPr sz="1800">
                <a:solidFill>
                  <a:srgbClr val="22303F"/>
                </a:solidFill>
                <a:latin typeface="Segoe UI"/>
              </a:rPr>
              <a:t>pelo endometrioma, comprometendo o suprimento sanguíneo.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300"/>
              </a:spcAft>
            </a:pPr>
            <a:r>
              <a:rPr sz="1400" b="1">
                <a:solidFill>
                  <a:srgbClr val="14A09A"/>
                </a:solidFill>
                <a:latin typeface="Segoe UI"/>
              </a:rPr>
              <a:t>●  </a:t>
            </a:r>
            <a:r>
              <a:rPr sz="1800" b="1">
                <a:solidFill>
                  <a:srgbClr val="172A54"/>
                </a:solidFill>
                <a:latin typeface="Segoe UI"/>
              </a:rPr>
              <a:t>Inflamação crônica </a:t>
            </a:r>
            <a:r>
              <a:rPr sz="1800">
                <a:solidFill>
                  <a:srgbClr val="22303F"/>
                </a:solidFill>
                <a:latin typeface="Segoe UI"/>
              </a:rPr>
              <a:t>por altas concentrações de ferro, citocinas e espécies reativas de oxigênio.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300"/>
              </a:spcAft>
            </a:pPr>
            <a:r>
              <a:rPr sz="1400" b="1">
                <a:solidFill>
                  <a:srgbClr val="14A09A"/>
                </a:solidFill>
                <a:latin typeface="Segoe UI"/>
              </a:rPr>
              <a:t>●  </a:t>
            </a:r>
            <a:r>
              <a:rPr sz="1800" b="1">
                <a:solidFill>
                  <a:srgbClr val="172A54"/>
                </a:solidFill>
                <a:latin typeface="Segoe UI"/>
              </a:rPr>
              <a:t>Superativação de folículos primordiais </a:t>
            </a:r>
            <a:r>
              <a:rPr sz="1800">
                <a:solidFill>
                  <a:srgbClr val="22303F"/>
                </a:solidFill>
                <a:latin typeface="Segoe UI"/>
              </a:rPr>
              <a:t>levando à depleção precoce da reserva ovariana.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6419088"/>
            <a:ext cx="11064240" cy="11887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172A54"/>
                </a:solidFill>
                <a:latin typeface="Segoe UI"/>
              </a:rPr>
              <a:t>Highlights ESHRE 2026</a:t>
            </a:r>
            <a:r>
              <a:rPr sz="900" b="0">
                <a:solidFill>
                  <a:srgbClr val="647486"/>
                </a:solidFill>
                <a:latin typeface="Segoe UI"/>
              </a:rPr>
              <a:t>   ·   Dr. Rodolfo Salvato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473952"/>
            <a:ext cx="12070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6"/>
                </a:solidFill>
                <a:latin typeface="Segoe UI"/>
              </a:rPr>
              <a:t>04 / 20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50">
        <p159:morph option="byObject"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bbon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gradFill rotWithShape="1">
            <a:gsLst>
              <a:gs pos="0">
                <a:srgbClr val="172A54"/>
              </a:gs>
              <a:gs pos="55000">
                <a:srgbClr val="14A09A"/>
              </a:gs>
              <a:gs pos="100000">
                <a:srgbClr val="35B04A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ghost"/>
          <p:cNvSpPr/>
          <p:nvPr/>
        </p:nvSpPr>
        <p:spPr>
          <a:xfrm>
            <a:off x="8869680" y="4160520"/>
            <a:ext cx="5120640" cy="5120640"/>
          </a:xfrm>
          <a:prstGeom prst="ellipse">
            <a:avLst/>
          </a:prstGeom>
          <a:gradFill rotWithShape="1">
            <a:gsLst>
              <a:gs pos="0">
                <a:srgbClr val="E9F5F3"/>
              </a:gs>
              <a:gs pos="100000">
                <a:srgbClr val="FFFFFF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ot0"/>
          <p:cNvSpPr/>
          <p:nvPr/>
        </p:nvSpPr>
        <p:spPr>
          <a:xfrm>
            <a:off x="566928" y="420624"/>
            <a:ext cx="123444" cy="123444"/>
          </a:xfrm>
          <a:prstGeom prst="ellipse">
            <a:avLst/>
          </a:prstGeom>
          <a:solidFill>
            <a:srgbClr val="17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ot1"/>
          <p:cNvSpPr/>
          <p:nvPr/>
        </p:nvSpPr>
        <p:spPr>
          <a:xfrm>
            <a:off x="740664" y="420624"/>
            <a:ext cx="123444" cy="123444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ot2"/>
          <p:cNvSpPr/>
          <p:nvPr/>
        </p:nvSpPr>
        <p:spPr>
          <a:xfrm>
            <a:off x="914400" y="420624"/>
            <a:ext cx="123444" cy="123444"/>
          </a:xfrm>
          <a:prstGeom prst="ellipse">
            <a:avLst/>
          </a:prstGeom>
          <a:solidFill>
            <a:srgbClr val="14A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ot3"/>
          <p:cNvSpPr/>
          <p:nvPr/>
        </p:nvSpPr>
        <p:spPr>
          <a:xfrm>
            <a:off x="1088136" y="420624"/>
            <a:ext cx="123444" cy="123444"/>
          </a:xfrm>
          <a:prstGeom prst="ellipse">
            <a:avLst/>
          </a:prstGeom>
          <a:solidFill>
            <a:srgbClr val="35B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ot4"/>
          <p:cNvSpPr/>
          <p:nvPr/>
        </p:nvSpPr>
        <p:spPr>
          <a:xfrm>
            <a:off x="1261872" y="420624"/>
            <a:ext cx="123444" cy="123444"/>
          </a:xfrm>
          <a:prstGeom prst="ellipse">
            <a:avLst/>
          </a:prstGeom>
          <a:solidFill>
            <a:srgbClr val="7AC7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74980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4A09A"/>
                </a:solidFill>
                <a:latin typeface="Segoe UI"/>
              </a:rPr>
              <a:t>CONTEXTO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60704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>
                <a:solidFill>
                  <a:srgbClr val="172A54"/>
                </a:solidFill>
                <a:latin typeface="Segoe UI"/>
              </a:rPr>
              <a:t>AMH: o marcador da reserva ovariana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773936"/>
            <a:ext cx="1143000" cy="54864"/>
          </a:xfrm>
          <a:prstGeom prst="rect">
            <a:avLst/>
          </a:prstGeom>
          <a:gradFill rotWithShape="1">
            <a:gsLst>
              <a:gs pos="0">
                <a:srgbClr val="14A09A"/>
              </a:gs>
              <a:gs pos="100000">
                <a:srgbClr val="35B04A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874519"/>
            <a:ext cx="1069848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14A09A"/>
                </a:solidFill>
                <a:latin typeface="Segoe UI"/>
              </a:rPr>
              <a:t>●  </a:t>
            </a:r>
            <a:r>
              <a:rPr sz="1800" b="1">
                <a:solidFill>
                  <a:srgbClr val="172A54"/>
                </a:solidFill>
                <a:latin typeface="Segoe UI"/>
              </a:rPr>
              <a:t>Hormônio Anti-Mülleriano (AMH): </a:t>
            </a:r>
            <a:r>
              <a:rPr sz="1800">
                <a:solidFill>
                  <a:srgbClr val="22303F"/>
                </a:solidFill>
                <a:latin typeface="Segoe UI"/>
              </a:rPr>
              <a:t>glicoproteína produzida pelas células da granulosa dos folículos antrais e pré-antrais.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14A09A"/>
                </a:solidFill>
                <a:latin typeface="Segoe UI"/>
              </a:rPr>
              <a:t>●  </a:t>
            </a:r>
            <a:r>
              <a:rPr sz="1800" b="1">
                <a:solidFill>
                  <a:srgbClr val="172A54"/>
                </a:solidFill>
                <a:latin typeface="Segoe UI"/>
              </a:rPr>
              <a:t>Marcador confiável e independente do ciclo </a:t>
            </a:r>
            <a:r>
              <a:rPr sz="1800">
                <a:solidFill>
                  <a:srgbClr val="22303F"/>
                </a:solidFill>
                <a:latin typeface="Segoe UI"/>
              </a:rPr>
              <a:t>menstrual da reserva ovariana.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14A09A"/>
                </a:solidFill>
                <a:latin typeface="Segoe UI"/>
              </a:rPr>
              <a:t>●  </a:t>
            </a:r>
            <a:r>
              <a:rPr sz="1800" b="1">
                <a:solidFill>
                  <a:srgbClr val="172A54"/>
                </a:solidFill>
                <a:latin typeface="Segoe UI"/>
              </a:rPr>
              <a:t>A contagem de folículos antrais (AFC) </a:t>
            </a:r>
            <a:r>
              <a:rPr sz="1800">
                <a:solidFill>
                  <a:srgbClr val="22303F"/>
                </a:solidFill>
                <a:latin typeface="Segoe UI"/>
              </a:rPr>
              <a:t>pode ser não confiável na presença de endometrioma, que distorce a imagem do ovário.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14A09A"/>
                </a:solidFill>
                <a:latin typeface="Segoe UI"/>
              </a:rPr>
              <a:t>●  </a:t>
            </a:r>
            <a:r>
              <a:rPr sz="1800" b="1">
                <a:solidFill>
                  <a:srgbClr val="172A54"/>
                </a:solidFill>
                <a:latin typeface="Segoe UI"/>
              </a:rPr>
              <a:t>Por isso o AMH </a:t>
            </a:r>
            <a:r>
              <a:rPr sz="1800">
                <a:solidFill>
                  <a:srgbClr val="22303F"/>
                </a:solidFill>
                <a:latin typeface="Segoe UI"/>
              </a:rPr>
              <a:t>é o mais adequado para um estudo populacional.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937760"/>
            <a:ext cx="10881360" cy="822960"/>
          </a:xfrm>
          <a:prstGeom prst="roundRect">
            <a:avLst>
              <a:gd name="adj" fmla="val 6000"/>
            </a:avLst>
          </a:prstGeom>
          <a:solidFill>
            <a:srgbClr val="EFF4FA"/>
          </a:solidFill>
          <a:ln>
            <a:noFill/>
          </a:ln>
          <a:effectLst>
            <a:outerShdw blurRad="91440" dist="32004" dir="5400000" rotWithShape="0">
              <a:srgbClr val="16302B">
                <a:alpha val="1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047488"/>
            <a:ext cx="102412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647486"/>
                </a:solidFill>
                <a:latin typeface="Segoe UI"/>
              </a:rPr>
              <a:t>La Marca et al., Hum Reprod 2009 (ESHRE AMH Round Table) · Moolhuijsen &amp; Visser, JCEM 2020.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6419088"/>
            <a:ext cx="11064240" cy="11887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172A54"/>
                </a:solidFill>
                <a:latin typeface="Segoe UI"/>
              </a:rPr>
              <a:t>Highlights ESHRE 2026</a:t>
            </a:r>
            <a:r>
              <a:rPr sz="900" b="0">
                <a:solidFill>
                  <a:srgbClr val="647486"/>
                </a:solidFill>
                <a:latin typeface="Segoe UI"/>
              </a:rPr>
              <a:t>   ·   Dr. Rodolfo Salvato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473952"/>
            <a:ext cx="12070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6"/>
                </a:solidFill>
                <a:latin typeface="Segoe UI"/>
              </a:rPr>
              <a:t>05 / 20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50">
        <p159:morph option="byObject"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bbon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gradFill rotWithShape="1">
            <a:gsLst>
              <a:gs pos="0">
                <a:srgbClr val="172A54"/>
              </a:gs>
              <a:gs pos="55000">
                <a:srgbClr val="14A09A"/>
              </a:gs>
              <a:gs pos="100000">
                <a:srgbClr val="35B04A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ghost"/>
          <p:cNvSpPr/>
          <p:nvPr/>
        </p:nvSpPr>
        <p:spPr>
          <a:xfrm>
            <a:off x="8869680" y="4160520"/>
            <a:ext cx="5120640" cy="5120640"/>
          </a:xfrm>
          <a:prstGeom prst="ellipse">
            <a:avLst/>
          </a:prstGeom>
          <a:gradFill rotWithShape="1">
            <a:gsLst>
              <a:gs pos="0">
                <a:srgbClr val="E9F5F3"/>
              </a:gs>
              <a:gs pos="100000">
                <a:srgbClr val="FFFFFF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ot0"/>
          <p:cNvSpPr/>
          <p:nvPr/>
        </p:nvSpPr>
        <p:spPr>
          <a:xfrm>
            <a:off x="566928" y="420624"/>
            <a:ext cx="123444" cy="123444"/>
          </a:xfrm>
          <a:prstGeom prst="ellipse">
            <a:avLst/>
          </a:prstGeom>
          <a:solidFill>
            <a:srgbClr val="17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ot1"/>
          <p:cNvSpPr/>
          <p:nvPr/>
        </p:nvSpPr>
        <p:spPr>
          <a:xfrm>
            <a:off x="740664" y="420624"/>
            <a:ext cx="123444" cy="123444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ot2"/>
          <p:cNvSpPr/>
          <p:nvPr/>
        </p:nvSpPr>
        <p:spPr>
          <a:xfrm>
            <a:off x="914400" y="420624"/>
            <a:ext cx="123444" cy="123444"/>
          </a:xfrm>
          <a:prstGeom prst="ellipse">
            <a:avLst/>
          </a:prstGeom>
          <a:solidFill>
            <a:srgbClr val="14A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ot3"/>
          <p:cNvSpPr/>
          <p:nvPr/>
        </p:nvSpPr>
        <p:spPr>
          <a:xfrm>
            <a:off x="1088136" y="420624"/>
            <a:ext cx="123444" cy="123444"/>
          </a:xfrm>
          <a:prstGeom prst="ellipse">
            <a:avLst/>
          </a:prstGeom>
          <a:solidFill>
            <a:srgbClr val="35B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ot4"/>
          <p:cNvSpPr/>
          <p:nvPr/>
        </p:nvSpPr>
        <p:spPr>
          <a:xfrm>
            <a:off x="1261872" y="420624"/>
            <a:ext cx="123444" cy="123444"/>
          </a:xfrm>
          <a:prstGeom prst="ellipse">
            <a:avLst/>
          </a:prstGeom>
          <a:solidFill>
            <a:srgbClr val="7AC7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74980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4A09A"/>
                </a:solidFill>
                <a:latin typeface="Segoe UI"/>
              </a:rPr>
              <a:t>O QUE JÁ SE SABIA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60704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>
                <a:solidFill>
                  <a:srgbClr val="172A54"/>
                </a:solidFill>
                <a:latin typeface="Segoe UI"/>
              </a:rPr>
              <a:t>Cirurgia de endometriose e AMH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773936"/>
            <a:ext cx="1143000" cy="54864"/>
          </a:xfrm>
          <a:prstGeom prst="rect">
            <a:avLst/>
          </a:prstGeom>
          <a:gradFill rotWithShape="1">
            <a:gsLst>
              <a:gs pos="0">
                <a:srgbClr val="14A09A"/>
              </a:gs>
              <a:gs pos="100000">
                <a:srgbClr val="35B04A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874519"/>
            <a:ext cx="1069848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>
                <a:solidFill>
                  <a:srgbClr val="14A09A"/>
                </a:solidFill>
                <a:latin typeface="Segoe UI"/>
              </a:rPr>
              <a:t>●  </a:t>
            </a:r>
            <a:r>
              <a:rPr sz="1800" b="1">
                <a:solidFill>
                  <a:srgbClr val="172A54"/>
                </a:solidFill>
                <a:latin typeface="Segoe UI"/>
              </a:rPr>
              <a:t>Endometriose tratada cirurgicamente </a:t>
            </a:r>
            <a:r>
              <a:rPr sz="1800">
                <a:solidFill>
                  <a:srgbClr val="22303F"/>
                </a:solidFill>
                <a:latin typeface="Segoe UI"/>
              </a:rPr>
              <a:t>se associa a AMH mais baixo no pós-operatório, em diversas técnicas.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>
                <a:solidFill>
                  <a:srgbClr val="14A09A"/>
                </a:solidFill>
                <a:latin typeface="Segoe UI"/>
              </a:rPr>
              <a:t>●  </a:t>
            </a:r>
            <a:r>
              <a:rPr sz="1800" b="1">
                <a:solidFill>
                  <a:srgbClr val="172A54"/>
                </a:solidFill>
                <a:latin typeface="Segoe UI"/>
              </a:rPr>
              <a:t>A cistectomia de endometrioma reduz o AMH sérico </a:t>
            </a:r>
            <a:r>
              <a:rPr sz="1800">
                <a:solidFill>
                  <a:srgbClr val="22303F"/>
                </a:solidFill>
                <a:latin typeface="Segoe UI"/>
              </a:rPr>
              <a:t>(meta-análise de Younis et al., 2022).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>
                <a:solidFill>
                  <a:srgbClr val="14A09A"/>
                </a:solidFill>
                <a:latin typeface="Segoe UI"/>
              </a:rPr>
              <a:t>●  </a:t>
            </a:r>
            <a:r>
              <a:rPr sz="1800" b="1">
                <a:solidFill>
                  <a:srgbClr val="172A54"/>
                </a:solidFill>
                <a:latin typeface="Segoe UI"/>
              </a:rPr>
              <a:t>Recuperação parcial é possível, </a:t>
            </a:r>
            <a:r>
              <a:rPr sz="1800">
                <a:solidFill>
                  <a:srgbClr val="22303F"/>
                </a:solidFill>
                <a:latin typeface="Segoe UI"/>
              </a:rPr>
              <a:t>mas o AMH raramente volta ao nível basal.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>
                <a:solidFill>
                  <a:srgbClr val="14A09A"/>
                </a:solidFill>
                <a:latin typeface="Segoe UI"/>
              </a:rPr>
              <a:t>●  </a:t>
            </a:r>
            <a:r>
              <a:rPr sz="1800" b="1">
                <a:solidFill>
                  <a:srgbClr val="172A54"/>
                </a:solidFill>
                <a:latin typeface="Segoe UI"/>
              </a:rPr>
              <a:t>A dúvida em aberto: </a:t>
            </a:r>
            <a:r>
              <a:rPr sz="1800">
                <a:solidFill>
                  <a:srgbClr val="22303F"/>
                </a:solidFill>
                <a:latin typeface="Segoe UI"/>
              </a:rPr>
              <a:t>e sem cirurgia? A própria doença afeta a reserva?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6419088"/>
            <a:ext cx="11064240" cy="11887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172A54"/>
                </a:solidFill>
                <a:latin typeface="Segoe UI"/>
              </a:rPr>
              <a:t>Highlights ESHRE 2026</a:t>
            </a:r>
            <a:r>
              <a:rPr sz="900" b="0">
                <a:solidFill>
                  <a:srgbClr val="647486"/>
                </a:solidFill>
                <a:latin typeface="Segoe UI"/>
              </a:rPr>
              <a:t>   ·   Dr. Rodolfo Salvato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473952"/>
            <a:ext cx="12070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6"/>
                </a:solidFill>
                <a:latin typeface="Segoe UI"/>
              </a:rPr>
              <a:t>06 / 20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50">
        <p159:morph option="byObject"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bbon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gradFill rotWithShape="1">
            <a:gsLst>
              <a:gs pos="0">
                <a:srgbClr val="172A54"/>
              </a:gs>
              <a:gs pos="55000">
                <a:srgbClr val="14A09A"/>
              </a:gs>
              <a:gs pos="100000">
                <a:srgbClr val="35B04A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ghost"/>
          <p:cNvSpPr/>
          <p:nvPr/>
        </p:nvSpPr>
        <p:spPr>
          <a:xfrm>
            <a:off x="8869680" y="4160520"/>
            <a:ext cx="5120640" cy="5120640"/>
          </a:xfrm>
          <a:prstGeom prst="ellipse">
            <a:avLst/>
          </a:prstGeom>
          <a:gradFill rotWithShape="1">
            <a:gsLst>
              <a:gs pos="0">
                <a:srgbClr val="E9F5F3"/>
              </a:gs>
              <a:gs pos="100000">
                <a:srgbClr val="FFFFFF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ot0"/>
          <p:cNvSpPr/>
          <p:nvPr/>
        </p:nvSpPr>
        <p:spPr>
          <a:xfrm>
            <a:off x="566928" y="420624"/>
            <a:ext cx="123444" cy="123444"/>
          </a:xfrm>
          <a:prstGeom prst="ellipse">
            <a:avLst/>
          </a:prstGeom>
          <a:solidFill>
            <a:srgbClr val="17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ot1"/>
          <p:cNvSpPr/>
          <p:nvPr/>
        </p:nvSpPr>
        <p:spPr>
          <a:xfrm>
            <a:off x="740664" y="420624"/>
            <a:ext cx="123444" cy="123444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ot2"/>
          <p:cNvSpPr/>
          <p:nvPr/>
        </p:nvSpPr>
        <p:spPr>
          <a:xfrm>
            <a:off x="914400" y="420624"/>
            <a:ext cx="123444" cy="123444"/>
          </a:xfrm>
          <a:prstGeom prst="ellipse">
            <a:avLst/>
          </a:prstGeom>
          <a:solidFill>
            <a:srgbClr val="14A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ot3"/>
          <p:cNvSpPr/>
          <p:nvPr/>
        </p:nvSpPr>
        <p:spPr>
          <a:xfrm>
            <a:off x="1088136" y="420624"/>
            <a:ext cx="123444" cy="123444"/>
          </a:xfrm>
          <a:prstGeom prst="ellipse">
            <a:avLst/>
          </a:prstGeom>
          <a:solidFill>
            <a:srgbClr val="35B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ot4"/>
          <p:cNvSpPr/>
          <p:nvPr/>
        </p:nvSpPr>
        <p:spPr>
          <a:xfrm>
            <a:off x="1261872" y="420624"/>
            <a:ext cx="123444" cy="123444"/>
          </a:xfrm>
          <a:prstGeom prst="ellipse">
            <a:avLst/>
          </a:prstGeom>
          <a:solidFill>
            <a:srgbClr val="7AC7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74980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4A09A"/>
                </a:solidFill>
                <a:latin typeface="Segoe UI"/>
              </a:rPr>
              <a:t>A PERGUNTA CENTRAL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60704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>
                <a:solidFill>
                  <a:srgbClr val="172A54"/>
                </a:solidFill>
                <a:latin typeface="Segoe UI"/>
              </a:rPr>
              <a:t>A lacuna que o estudo preenche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773936"/>
            <a:ext cx="1143000" cy="54864"/>
          </a:xfrm>
          <a:prstGeom prst="rect">
            <a:avLst/>
          </a:prstGeom>
          <a:gradFill rotWithShape="1">
            <a:gsLst>
              <a:gs pos="0">
                <a:srgbClr val="14A09A"/>
              </a:gs>
              <a:gs pos="100000">
                <a:srgbClr val="35B04A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" y="2286000"/>
            <a:ext cx="10881360" cy="2651760"/>
          </a:xfrm>
          <a:prstGeom prst="roundRect">
            <a:avLst>
              <a:gd name="adj" fmla="val 6000"/>
            </a:avLst>
          </a:prstGeom>
          <a:solidFill>
            <a:srgbClr val="EFF4FA"/>
          </a:solidFill>
          <a:ln>
            <a:noFill/>
          </a:ln>
          <a:effectLst>
            <a:outerShdw blurRad="91440" dist="32004" dir="5400000" rotWithShape="0">
              <a:srgbClr val="16302B">
                <a:alpha val="1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2286000"/>
            <a:ext cx="146304" cy="2651760"/>
          </a:xfrm>
          <a:prstGeom prst="rect">
            <a:avLst/>
          </a:prstGeom>
          <a:gradFill rotWithShape="1">
            <a:gsLst>
              <a:gs pos="0">
                <a:srgbClr val="14A09A"/>
              </a:gs>
              <a:gs pos="100000">
                <a:srgbClr val="35B04A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2651760"/>
            <a:ext cx="9966960" cy="2103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0">
                <a:solidFill>
                  <a:srgbClr val="22303F"/>
                </a:solidFill>
                <a:latin typeface="Segoe UI"/>
              </a:rPr>
              <a:t>Até aqui, não estava claro se a endometriose,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172A54"/>
                </a:solidFill>
                <a:latin typeface="Segoe UI"/>
              </a:rPr>
              <a:t>independentemente do tratamento cirúrgico,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0">
                <a:solidFill>
                  <a:srgbClr val="22303F"/>
                </a:solidFill>
                <a:latin typeface="Segoe UI"/>
              </a:rPr>
              <a:t>prejudica a reserva ovariana em nível populacional.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6419088"/>
            <a:ext cx="11064240" cy="11887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172A54"/>
                </a:solidFill>
                <a:latin typeface="Segoe UI"/>
              </a:rPr>
              <a:t>Highlights ESHRE 2026</a:t>
            </a:r>
            <a:r>
              <a:rPr sz="900" b="0">
                <a:solidFill>
                  <a:srgbClr val="647486"/>
                </a:solidFill>
                <a:latin typeface="Segoe UI"/>
              </a:rPr>
              <a:t>   ·   Dr. Rodolfo Salvato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473952"/>
            <a:ext cx="12070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6"/>
                </a:solidFill>
                <a:latin typeface="Segoe UI"/>
              </a:rPr>
              <a:t>07 / 20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50">
        <p159:morph option="byObject"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bbon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gradFill rotWithShape="1">
            <a:gsLst>
              <a:gs pos="0">
                <a:srgbClr val="172A54"/>
              </a:gs>
              <a:gs pos="55000">
                <a:srgbClr val="14A09A"/>
              </a:gs>
              <a:gs pos="100000">
                <a:srgbClr val="35B04A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ghost"/>
          <p:cNvSpPr/>
          <p:nvPr/>
        </p:nvSpPr>
        <p:spPr>
          <a:xfrm>
            <a:off x="8869680" y="4160520"/>
            <a:ext cx="5120640" cy="5120640"/>
          </a:xfrm>
          <a:prstGeom prst="ellipse">
            <a:avLst/>
          </a:prstGeom>
          <a:gradFill rotWithShape="1">
            <a:gsLst>
              <a:gs pos="0">
                <a:srgbClr val="E9F5F3"/>
              </a:gs>
              <a:gs pos="100000">
                <a:srgbClr val="FFFFFF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ot0"/>
          <p:cNvSpPr/>
          <p:nvPr/>
        </p:nvSpPr>
        <p:spPr>
          <a:xfrm>
            <a:off x="566928" y="420624"/>
            <a:ext cx="123444" cy="123444"/>
          </a:xfrm>
          <a:prstGeom prst="ellipse">
            <a:avLst/>
          </a:prstGeom>
          <a:solidFill>
            <a:srgbClr val="17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ot1"/>
          <p:cNvSpPr/>
          <p:nvPr/>
        </p:nvSpPr>
        <p:spPr>
          <a:xfrm>
            <a:off x="740664" y="420624"/>
            <a:ext cx="123444" cy="123444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ot2"/>
          <p:cNvSpPr/>
          <p:nvPr/>
        </p:nvSpPr>
        <p:spPr>
          <a:xfrm>
            <a:off x="914400" y="420624"/>
            <a:ext cx="123444" cy="123444"/>
          </a:xfrm>
          <a:prstGeom prst="ellipse">
            <a:avLst/>
          </a:prstGeom>
          <a:solidFill>
            <a:srgbClr val="14A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ot3"/>
          <p:cNvSpPr/>
          <p:nvPr/>
        </p:nvSpPr>
        <p:spPr>
          <a:xfrm>
            <a:off x="1088136" y="420624"/>
            <a:ext cx="123444" cy="123444"/>
          </a:xfrm>
          <a:prstGeom prst="ellipse">
            <a:avLst/>
          </a:prstGeom>
          <a:solidFill>
            <a:srgbClr val="35B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ot4"/>
          <p:cNvSpPr/>
          <p:nvPr/>
        </p:nvSpPr>
        <p:spPr>
          <a:xfrm>
            <a:off x="1261872" y="420624"/>
            <a:ext cx="123444" cy="123444"/>
          </a:xfrm>
          <a:prstGeom prst="ellipse">
            <a:avLst/>
          </a:prstGeom>
          <a:solidFill>
            <a:srgbClr val="7AC7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74980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4A09A"/>
                </a:solidFill>
                <a:latin typeface="Segoe UI"/>
              </a:rPr>
              <a:t>O QUE FOI INVESTIGADO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60704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>
                <a:solidFill>
                  <a:srgbClr val="172A54"/>
                </a:solidFill>
                <a:latin typeface="Segoe UI"/>
              </a:rPr>
              <a:t>Objetivo do estudo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773936"/>
            <a:ext cx="1143000" cy="54864"/>
          </a:xfrm>
          <a:prstGeom prst="rect">
            <a:avLst/>
          </a:prstGeom>
          <a:gradFill rotWithShape="1">
            <a:gsLst>
              <a:gs pos="0">
                <a:srgbClr val="14A09A"/>
              </a:gs>
              <a:gs pos="100000">
                <a:srgbClr val="35B04A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" y="2286000"/>
            <a:ext cx="530352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91440" dist="32004" dir="5400000" rotWithShape="0">
              <a:srgbClr val="16302B">
                <a:alpha val="1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8368" y="2286000"/>
            <a:ext cx="5303520" cy="128016"/>
          </a:xfrm>
          <a:prstGeom prst="roundRect">
            <a:avLst/>
          </a:prstGeom>
          <a:gradFill rotWithShape="1">
            <a:gsLst>
              <a:gs pos="0">
                <a:srgbClr val="1F6FB2"/>
              </a:gs>
              <a:gs pos="100000">
                <a:srgbClr val="479CD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560320"/>
            <a:ext cx="4846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1F6FB2"/>
                </a:solidFill>
                <a:latin typeface="Segoe U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19856"/>
            <a:ext cx="48463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2303F"/>
                </a:solidFill>
                <a:latin typeface="Segoe UI"/>
              </a:rPr>
              <a:t>Avaliar o efeito da endometriose sobre a reserva ovariana (AMH), em nível populacional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27648" y="2286000"/>
            <a:ext cx="530352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91440" dist="32004" dir="5400000" rotWithShape="0">
              <a:srgbClr val="16302B">
                <a:alpha val="1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27648" y="2286000"/>
            <a:ext cx="5303520" cy="128016"/>
          </a:xfrm>
          <a:prstGeom prst="roundRect">
            <a:avLst/>
          </a:prstGeom>
          <a:gradFill rotWithShape="1">
            <a:gsLst>
              <a:gs pos="0">
                <a:srgbClr val="35B04A"/>
              </a:gs>
              <a:gs pos="100000">
                <a:srgbClr val="5DDD68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2560320"/>
            <a:ext cx="4846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35B04A"/>
                </a:solidFill>
                <a:latin typeface="Segoe U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419856"/>
            <a:ext cx="48463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2303F"/>
                </a:solidFill>
                <a:latin typeface="Segoe UI"/>
              </a:rPr>
              <a:t>Comparar endometriose tratada clinicamente vs cirurgicamente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6419088"/>
            <a:ext cx="11064240" cy="11887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172A54"/>
                </a:solidFill>
                <a:latin typeface="Segoe UI"/>
              </a:rPr>
              <a:t>Highlights ESHRE 2026</a:t>
            </a:r>
            <a:r>
              <a:rPr sz="900" b="0">
                <a:solidFill>
                  <a:srgbClr val="647486"/>
                </a:solidFill>
                <a:latin typeface="Segoe UI"/>
              </a:rPr>
              <a:t>   ·   Dr. Rodolfo Salvato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6473952"/>
            <a:ext cx="12070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6"/>
                </a:solidFill>
                <a:latin typeface="Segoe UI"/>
              </a:rPr>
              <a:t>08 / 20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50">
        <p159:morph option="byObject"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bbon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gradFill rotWithShape="1">
            <a:gsLst>
              <a:gs pos="0">
                <a:srgbClr val="172A54"/>
              </a:gs>
              <a:gs pos="55000">
                <a:srgbClr val="14A09A"/>
              </a:gs>
              <a:gs pos="100000">
                <a:srgbClr val="35B04A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ghost"/>
          <p:cNvSpPr/>
          <p:nvPr/>
        </p:nvSpPr>
        <p:spPr>
          <a:xfrm>
            <a:off x="8869680" y="4160520"/>
            <a:ext cx="5120640" cy="5120640"/>
          </a:xfrm>
          <a:prstGeom prst="ellipse">
            <a:avLst/>
          </a:prstGeom>
          <a:gradFill rotWithShape="1">
            <a:gsLst>
              <a:gs pos="0">
                <a:srgbClr val="E9F5F3"/>
              </a:gs>
              <a:gs pos="100000">
                <a:srgbClr val="FFFFFF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ot0"/>
          <p:cNvSpPr/>
          <p:nvPr/>
        </p:nvSpPr>
        <p:spPr>
          <a:xfrm>
            <a:off x="566928" y="420624"/>
            <a:ext cx="123444" cy="123444"/>
          </a:xfrm>
          <a:prstGeom prst="ellipse">
            <a:avLst/>
          </a:prstGeom>
          <a:solidFill>
            <a:srgbClr val="17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ot1"/>
          <p:cNvSpPr/>
          <p:nvPr/>
        </p:nvSpPr>
        <p:spPr>
          <a:xfrm>
            <a:off x="740664" y="420624"/>
            <a:ext cx="123444" cy="123444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ot2"/>
          <p:cNvSpPr/>
          <p:nvPr/>
        </p:nvSpPr>
        <p:spPr>
          <a:xfrm>
            <a:off x="914400" y="420624"/>
            <a:ext cx="123444" cy="123444"/>
          </a:xfrm>
          <a:prstGeom prst="ellipse">
            <a:avLst/>
          </a:prstGeom>
          <a:solidFill>
            <a:srgbClr val="14A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ot3"/>
          <p:cNvSpPr/>
          <p:nvPr/>
        </p:nvSpPr>
        <p:spPr>
          <a:xfrm>
            <a:off x="1088136" y="420624"/>
            <a:ext cx="123444" cy="123444"/>
          </a:xfrm>
          <a:prstGeom prst="ellipse">
            <a:avLst/>
          </a:prstGeom>
          <a:solidFill>
            <a:srgbClr val="35B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ot4"/>
          <p:cNvSpPr/>
          <p:nvPr/>
        </p:nvSpPr>
        <p:spPr>
          <a:xfrm>
            <a:off x="1261872" y="420624"/>
            <a:ext cx="123444" cy="123444"/>
          </a:xfrm>
          <a:prstGeom prst="ellipse">
            <a:avLst/>
          </a:prstGeom>
          <a:solidFill>
            <a:srgbClr val="7AC7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74980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4A09A"/>
                </a:solidFill>
                <a:latin typeface="Segoe UI"/>
              </a:rPr>
              <a:t>DESENHO DO ESTUDO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60704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>
                <a:solidFill>
                  <a:srgbClr val="172A54"/>
                </a:solidFill>
                <a:latin typeface="Segoe UI"/>
              </a:rPr>
              <a:t>Métodos — a coorte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773936"/>
            <a:ext cx="1143000" cy="54864"/>
          </a:xfrm>
          <a:prstGeom prst="rect">
            <a:avLst/>
          </a:prstGeom>
          <a:gradFill rotWithShape="1">
            <a:gsLst>
              <a:gs pos="0">
                <a:srgbClr val="14A09A"/>
              </a:gs>
              <a:gs pos="100000">
                <a:srgbClr val="35B04A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920240"/>
            <a:ext cx="1069848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1300"/>
              </a:spcAft>
            </a:pPr>
            <a:r>
              <a:rPr sz="1400" b="1">
                <a:solidFill>
                  <a:srgbClr val="14A09A"/>
                </a:solidFill>
                <a:latin typeface="Segoe UI"/>
              </a:rPr>
              <a:t>●  </a:t>
            </a:r>
            <a:r>
              <a:rPr sz="1800" b="1">
                <a:solidFill>
                  <a:srgbClr val="172A54"/>
                </a:solidFill>
                <a:latin typeface="Segoe UI"/>
              </a:rPr>
              <a:t>Coorte retrospectiva de base populacional, </a:t>
            </a:r>
            <a:r>
              <a:rPr sz="1800">
                <a:solidFill>
                  <a:srgbClr val="22303F"/>
                </a:solidFill>
                <a:latin typeface="Segoe UI"/>
              </a:rPr>
              <a:t>com dados administrativos vinculados do IC·ES (Ontário, Canadá).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300"/>
              </a:spcAft>
            </a:pPr>
            <a:r>
              <a:rPr sz="1400" b="1">
                <a:solidFill>
                  <a:srgbClr val="14A09A"/>
                </a:solidFill>
                <a:latin typeface="Segoe UI"/>
              </a:rPr>
              <a:t>●  </a:t>
            </a:r>
            <a:r>
              <a:rPr sz="1800" b="1">
                <a:solidFill>
                  <a:srgbClr val="172A54"/>
                </a:solidFill>
                <a:latin typeface="Segoe UI"/>
              </a:rPr>
              <a:t>Incluídas: </a:t>
            </a:r>
            <a:r>
              <a:rPr sz="1800">
                <a:solidFill>
                  <a:srgbClr val="22303F"/>
                </a:solidFill>
                <a:latin typeface="Segoe UI"/>
              </a:rPr>
              <a:t>todas as mulheres com dosagem de AMH entre 01/2013 e 12/2024, de 18 a 50 anos.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300"/>
              </a:spcAft>
            </a:pPr>
            <a:r>
              <a:rPr sz="1400" b="1">
                <a:solidFill>
                  <a:srgbClr val="14A09A"/>
                </a:solidFill>
                <a:latin typeface="Segoe UI"/>
              </a:rPr>
              <a:t>●  </a:t>
            </a:r>
            <a:r>
              <a:rPr sz="1800" b="1">
                <a:solidFill>
                  <a:srgbClr val="172A54"/>
                </a:solidFill>
                <a:latin typeface="Segoe UI"/>
              </a:rPr>
              <a:t>Excluídas: </a:t>
            </a:r>
            <a:r>
              <a:rPr sz="1800">
                <a:solidFill>
                  <a:srgbClr val="22303F"/>
                </a:solidFill>
                <a:latin typeface="Segoe UI"/>
              </a:rPr>
              <a:t>residentes fora de Ontário; AMH fora da faixa laboratorial; menos de 5 anos de cobertura.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6419088"/>
            <a:ext cx="11064240" cy="11887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172A54"/>
                </a:solidFill>
                <a:latin typeface="Segoe UI"/>
              </a:rPr>
              <a:t>Highlights ESHRE 2026</a:t>
            </a:r>
            <a:r>
              <a:rPr sz="900" b="0">
                <a:solidFill>
                  <a:srgbClr val="647486"/>
                </a:solidFill>
                <a:latin typeface="Segoe UI"/>
              </a:rPr>
              <a:t>   ·   Dr. Rodolfo Salvato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473952"/>
            <a:ext cx="12070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6"/>
                </a:solidFill>
                <a:latin typeface="Segoe UI"/>
              </a:rPr>
              <a:t>09 / 20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50">
        <p159:morph option="byObject"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bbon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gradFill rotWithShape="1">
            <a:gsLst>
              <a:gs pos="0">
                <a:srgbClr val="172A54"/>
              </a:gs>
              <a:gs pos="55000">
                <a:srgbClr val="14A09A"/>
              </a:gs>
              <a:gs pos="100000">
                <a:srgbClr val="35B04A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ghost"/>
          <p:cNvSpPr/>
          <p:nvPr/>
        </p:nvSpPr>
        <p:spPr>
          <a:xfrm>
            <a:off x="8869680" y="4160520"/>
            <a:ext cx="5120640" cy="5120640"/>
          </a:xfrm>
          <a:prstGeom prst="ellipse">
            <a:avLst/>
          </a:prstGeom>
          <a:gradFill rotWithShape="1">
            <a:gsLst>
              <a:gs pos="0">
                <a:srgbClr val="E9F5F3"/>
              </a:gs>
              <a:gs pos="100000">
                <a:srgbClr val="FFFFFF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ot0"/>
          <p:cNvSpPr/>
          <p:nvPr/>
        </p:nvSpPr>
        <p:spPr>
          <a:xfrm>
            <a:off x="566928" y="420624"/>
            <a:ext cx="123444" cy="123444"/>
          </a:xfrm>
          <a:prstGeom prst="ellipse">
            <a:avLst/>
          </a:prstGeom>
          <a:solidFill>
            <a:srgbClr val="17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ot1"/>
          <p:cNvSpPr/>
          <p:nvPr/>
        </p:nvSpPr>
        <p:spPr>
          <a:xfrm>
            <a:off x="740664" y="420624"/>
            <a:ext cx="123444" cy="123444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ot2"/>
          <p:cNvSpPr/>
          <p:nvPr/>
        </p:nvSpPr>
        <p:spPr>
          <a:xfrm>
            <a:off x="914400" y="420624"/>
            <a:ext cx="123444" cy="123444"/>
          </a:xfrm>
          <a:prstGeom prst="ellipse">
            <a:avLst/>
          </a:prstGeom>
          <a:solidFill>
            <a:srgbClr val="14A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ot3"/>
          <p:cNvSpPr/>
          <p:nvPr/>
        </p:nvSpPr>
        <p:spPr>
          <a:xfrm>
            <a:off x="1088136" y="420624"/>
            <a:ext cx="123444" cy="123444"/>
          </a:xfrm>
          <a:prstGeom prst="ellipse">
            <a:avLst/>
          </a:prstGeom>
          <a:solidFill>
            <a:srgbClr val="35B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ot4"/>
          <p:cNvSpPr/>
          <p:nvPr/>
        </p:nvSpPr>
        <p:spPr>
          <a:xfrm>
            <a:off x="1261872" y="420624"/>
            <a:ext cx="123444" cy="123444"/>
          </a:xfrm>
          <a:prstGeom prst="ellipse">
            <a:avLst/>
          </a:prstGeom>
          <a:solidFill>
            <a:srgbClr val="7AC7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74980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4A09A"/>
                </a:solidFill>
                <a:latin typeface="Segoe UI"/>
              </a:rPr>
              <a:t>DEFINIÇÕES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60704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>
                <a:solidFill>
                  <a:srgbClr val="172A54"/>
                </a:solidFill>
                <a:latin typeface="Segoe UI"/>
              </a:rPr>
              <a:t>Métodos — exposição e desfechos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773936"/>
            <a:ext cx="1143000" cy="54864"/>
          </a:xfrm>
          <a:prstGeom prst="rect">
            <a:avLst/>
          </a:prstGeom>
          <a:gradFill rotWithShape="1">
            <a:gsLst>
              <a:gs pos="0">
                <a:srgbClr val="14A09A"/>
              </a:gs>
              <a:gs pos="100000">
                <a:srgbClr val="35B04A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874519"/>
            <a:ext cx="1069848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1300"/>
              </a:spcAft>
            </a:pPr>
            <a:r>
              <a:rPr sz="1400" b="1">
                <a:solidFill>
                  <a:srgbClr val="14A09A"/>
                </a:solidFill>
                <a:latin typeface="Segoe UI"/>
              </a:rPr>
              <a:t>●  </a:t>
            </a:r>
            <a:r>
              <a:rPr sz="1800" b="1">
                <a:solidFill>
                  <a:srgbClr val="172A54"/>
                </a:solidFill>
                <a:latin typeface="Segoe UI"/>
              </a:rPr>
              <a:t>Exposição — diagnóstico de endometriose </a:t>
            </a:r>
            <a:r>
              <a:rPr sz="1800">
                <a:solidFill>
                  <a:srgbClr val="22303F"/>
                </a:solidFill>
                <a:latin typeface="Segoe UI"/>
              </a:rPr>
              <a:t>(clínico ou cirúrgico): ≥2 atendimentos ambulatoriais (CID-9 617) ou ≥1 internação/PS/cirurgia (CID-9 617 ou CID-10 N80).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300"/>
              </a:spcAft>
            </a:pPr>
            <a:r>
              <a:rPr sz="1400" b="1">
                <a:solidFill>
                  <a:srgbClr val="14A09A"/>
                </a:solidFill>
                <a:latin typeface="Segoe UI"/>
              </a:rPr>
              <a:t>●  </a:t>
            </a:r>
            <a:r>
              <a:rPr sz="1800" b="1">
                <a:solidFill>
                  <a:srgbClr val="172A54"/>
                </a:solidFill>
                <a:latin typeface="Segoe UI"/>
              </a:rPr>
              <a:t>Desfecho primário: </a:t>
            </a:r>
            <a:r>
              <a:rPr sz="1800">
                <a:solidFill>
                  <a:srgbClr val="22303F"/>
                </a:solidFill>
                <a:latin typeface="Segoe UI"/>
              </a:rPr>
              <a:t>nível de AMH (variável contínua).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300"/>
              </a:spcAft>
            </a:pPr>
            <a:r>
              <a:rPr sz="1400" b="1">
                <a:solidFill>
                  <a:srgbClr val="14A09A"/>
                </a:solidFill>
                <a:latin typeface="Segoe UI"/>
              </a:rPr>
              <a:t>●  </a:t>
            </a:r>
            <a:r>
              <a:rPr sz="1800" b="1">
                <a:solidFill>
                  <a:srgbClr val="172A54"/>
                </a:solidFill>
                <a:latin typeface="Segoe UI"/>
              </a:rPr>
              <a:t>Desfecho secundário: </a:t>
            </a:r>
            <a:r>
              <a:rPr sz="1800">
                <a:solidFill>
                  <a:srgbClr val="22303F"/>
                </a:solidFill>
                <a:latin typeface="Segoe UI"/>
              </a:rPr>
              <a:t>AMH baixo, definido pelo critério de Bologna (&lt; 1,1 ng/mL).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6419088"/>
            <a:ext cx="11064240" cy="11887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172A54"/>
                </a:solidFill>
                <a:latin typeface="Segoe UI"/>
              </a:rPr>
              <a:t>Highlights ESHRE 2026</a:t>
            </a:r>
            <a:r>
              <a:rPr sz="900" b="0">
                <a:solidFill>
                  <a:srgbClr val="647486"/>
                </a:solidFill>
                <a:latin typeface="Segoe UI"/>
              </a:rPr>
              <a:t>   ·   Dr. Rodolfo Salvato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473952"/>
            <a:ext cx="12070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6"/>
                </a:solidFill>
                <a:latin typeface="Segoe UI"/>
              </a:rPr>
              <a:t>10 / 20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50">
        <p159:morph option="byObject"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bbon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gradFill rotWithShape="1">
            <a:gsLst>
              <a:gs pos="0">
                <a:srgbClr val="172A54"/>
              </a:gs>
              <a:gs pos="55000">
                <a:srgbClr val="14A09A"/>
              </a:gs>
              <a:gs pos="100000">
                <a:srgbClr val="35B04A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ghost"/>
          <p:cNvSpPr/>
          <p:nvPr/>
        </p:nvSpPr>
        <p:spPr>
          <a:xfrm>
            <a:off x="8869680" y="4160520"/>
            <a:ext cx="5120640" cy="5120640"/>
          </a:xfrm>
          <a:prstGeom prst="ellipse">
            <a:avLst/>
          </a:prstGeom>
          <a:gradFill rotWithShape="1">
            <a:gsLst>
              <a:gs pos="0">
                <a:srgbClr val="E9F5F3"/>
              </a:gs>
              <a:gs pos="100000">
                <a:srgbClr val="FFFFFF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ot0"/>
          <p:cNvSpPr/>
          <p:nvPr/>
        </p:nvSpPr>
        <p:spPr>
          <a:xfrm>
            <a:off x="566928" y="420624"/>
            <a:ext cx="123444" cy="123444"/>
          </a:xfrm>
          <a:prstGeom prst="ellipse">
            <a:avLst/>
          </a:prstGeom>
          <a:solidFill>
            <a:srgbClr val="17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ot1"/>
          <p:cNvSpPr/>
          <p:nvPr/>
        </p:nvSpPr>
        <p:spPr>
          <a:xfrm>
            <a:off x="740664" y="420624"/>
            <a:ext cx="123444" cy="123444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ot2"/>
          <p:cNvSpPr/>
          <p:nvPr/>
        </p:nvSpPr>
        <p:spPr>
          <a:xfrm>
            <a:off x="914400" y="420624"/>
            <a:ext cx="123444" cy="123444"/>
          </a:xfrm>
          <a:prstGeom prst="ellipse">
            <a:avLst/>
          </a:prstGeom>
          <a:solidFill>
            <a:srgbClr val="14A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ot3"/>
          <p:cNvSpPr/>
          <p:nvPr/>
        </p:nvSpPr>
        <p:spPr>
          <a:xfrm>
            <a:off x="1088136" y="420624"/>
            <a:ext cx="123444" cy="123444"/>
          </a:xfrm>
          <a:prstGeom prst="ellipse">
            <a:avLst/>
          </a:prstGeom>
          <a:solidFill>
            <a:srgbClr val="35B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ot4"/>
          <p:cNvSpPr/>
          <p:nvPr/>
        </p:nvSpPr>
        <p:spPr>
          <a:xfrm>
            <a:off x="1261872" y="420624"/>
            <a:ext cx="123444" cy="123444"/>
          </a:xfrm>
          <a:prstGeom prst="ellipse">
            <a:avLst/>
          </a:prstGeom>
          <a:solidFill>
            <a:srgbClr val="7AC7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74980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4A09A"/>
                </a:solidFill>
                <a:latin typeface="Segoe UI"/>
              </a:rPr>
              <a:t>COMO OS DADOS FORAM TRATADOS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60704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>
                <a:solidFill>
                  <a:srgbClr val="172A54"/>
                </a:solidFill>
                <a:latin typeface="Segoe UI"/>
              </a:rPr>
              <a:t>Análise estatística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773936"/>
            <a:ext cx="1143000" cy="54864"/>
          </a:xfrm>
          <a:prstGeom prst="rect">
            <a:avLst/>
          </a:prstGeom>
          <a:gradFill rotWithShape="1">
            <a:gsLst>
              <a:gs pos="0">
                <a:srgbClr val="14A09A"/>
              </a:gs>
              <a:gs pos="100000">
                <a:srgbClr val="35B04A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874519"/>
            <a:ext cx="1069848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1300"/>
              </a:spcAft>
            </a:pPr>
            <a:r>
              <a:rPr sz="1400" b="1">
                <a:solidFill>
                  <a:srgbClr val="14A09A"/>
                </a:solidFill>
                <a:latin typeface="Segoe UI"/>
              </a:rPr>
              <a:t>●  </a:t>
            </a:r>
            <a:r>
              <a:rPr sz="1800" b="1">
                <a:solidFill>
                  <a:srgbClr val="172A54"/>
                </a:solidFill>
                <a:latin typeface="Segoe UI"/>
              </a:rPr>
              <a:t>Regressão quantílica </a:t>
            </a:r>
            <a:r>
              <a:rPr sz="1800">
                <a:solidFill>
                  <a:srgbClr val="22303F"/>
                </a:solidFill>
                <a:latin typeface="Segoe UI"/>
              </a:rPr>
              <a:t>(o AMH não tem distribuição normal): estimou os percentis 25, 50 e 75 — mais informação que só a média.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300"/>
              </a:spcAft>
            </a:pPr>
            <a:r>
              <a:rPr sz="1400" b="1">
                <a:solidFill>
                  <a:srgbClr val="14A09A"/>
                </a:solidFill>
                <a:latin typeface="Segoe UI"/>
              </a:rPr>
              <a:t>●  </a:t>
            </a:r>
            <a:r>
              <a:rPr sz="1800" b="1">
                <a:solidFill>
                  <a:srgbClr val="172A54"/>
                </a:solidFill>
                <a:latin typeface="Segoe UI"/>
              </a:rPr>
              <a:t>Regressão de Poisson </a:t>
            </a:r>
            <a:r>
              <a:rPr sz="1800">
                <a:solidFill>
                  <a:srgbClr val="22303F"/>
                </a:solidFill>
                <a:latin typeface="Segoe UI"/>
              </a:rPr>
              <a:t>para estimar o risco relativo de AMH baixo.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300"/>
              </a:spcAft>
            </a:pPr>
            <a:r>
              <a:rPr sz="1400" b="1">
                <a:solidFill>
                  <a:srgbClr val="14A09A"/>
                </a:solidFill>
                <a:latin typeface="Segoe UI"/>
              </a:rPr>
              <a:t>●  </a:t>
            </a:r>
            <a:r>
              <a:rPr sz="1800" b="1">
                <a:solidFill>
                  <a:srgbClr val="172A54"/>
                </a:solidFill>
                <a:latin typeface="Segoe UI"/>
              </a:rPr>
              <a:t>Ajuste por: </a:t>
            </a:r>
            <a:r>
              <a:rPr sz="1800">
                <a:solidFill>
                  <a:srgbClr val="22303F"/>
                </a:solidFill>
                <a:latin typeface="Segoe UI"/>
              </a:rPr>
              <a:t>idade, morbidade (escore ADG), renda, ruralidade, paridade, obesidade, infertilidade, miomas e sangramento uterino anormal.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6419088"/>
            <a:ext cx="11064240" cy="11887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172A54"/>
                </a:solidFill>
                <a:latin typeface="Segoe UI"/>
              </a:rPr>
              <a:t>Highlights ESHRE 2026</a:t>
            </a:r>
            <a:r>
              <a:rPr sz="900" b="0">
                <a:solidFill>
                  <a:srgbClr val="647486"/>
                </a:solidFill>
                <a:latin typeface="Segoe UI"/>
              </a:rPr>
              <a:t>   ·   Dr. Rodolfo Salvato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473952"/>
            <a:ext cx="12070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6"/>
                </a:solidFill>
                <a:latin typeface="Segoe UI"/>
              </a:rPr>
              <a:t>11 / 20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50">
        <p159:morph option="byObject"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bbon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gradFill rotWithShape="1">
            <a:gsLst>
              <a:gs pos="0">
                <a:srgbClr val="172A54"/>
              </a:gs>
              <a:gs pos="55000">
                <a:srgbClr val="14A09A"/>
              </a:gs>
              <a:gs pos="100000">
                <a:srgbClr val="35B04A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ot0"/>
          <p:cNvSpPr/>
          <p:nvPr/>
        </p:nvSpPr>
        <p:spPr>
          <a:xfrm>
            <a:off x="566928" y="420624"/>
            <a:ext cx="123444" cy="123444"/>
          </a:xfrm>
          <a:prstGeom prst="ellipse">
            <a:avLst/>
          </a:prstGeom>
          <a:solidFill>
            <a:srgbClr val="17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ot1"/>
          <p:cNvSpPr/>
          <p:nvPr/>
        </p:nvSpPr>
        <p:spPr>
          <a:xfrm>
            <a:off x="740664" y="420624"/>
            <a:ext cx="123444" cy="123444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ot2"/>
          <p:cNvSpPr/>
          <p:nvPr/>
        </p:nvSpPr>
        <p:spPr>
          <a:xfrm>
            <a:off x="914400" y="420624"/>
            <a:ext cx="123444" cy="123444"/>
          </a:xfrm>
          <a:prstGeom prst="ellipse">
            <a:avLst/>
          </a:prstGeom>
          <a:solidFill>
            <a:srgbClr val="14A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ot3"/>
          <p:cNvSpPr/>
          <p:nvPr/>
        </p:nvSpPr>
        <p:spPr>
          <a:xfrm>
            <a:off x="1088136" y="420624"/>
            <a:ext cx="123444" cy="123444"/>
          </a:xfrm>
          <a:prstGeom prst="ellipse">
            <a:avLst/>
          </a:prstGeom>
          <a:solidFill>
            <a:srgbClr val="35B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ot4"/>
          <p:cNvSpPr/>
          <p:nvPr/>
        </p:nvSpPr>
        <p:spPr>
          <a:xfrm>
            <a:off x="1261872" y="420624"/>
            <a:ext cx="123444" cy="123444"/>
          </a:xfrm>
          <a:prstGeom prst="ellipse">
            <a:avLst/>
          </a:prstGeom>
          <a:solidFill>
            <a:srgbClr val="7AC7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74980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4A09A"/>
                </a:solidFill>
                <a:latin typeface="Segoe UI"/>
              </a:rPr>
              <a:t>QUEM ENTROU NO ESTUDO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60704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>
                <a:solidFill>
                  <a:srgbClr val="172A54"/>
                </a:solidFill>
                <a:latin typeface="Segoe UI"/>
              </a:rPr>
              <a:t>Resultados — a amostra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773936"/>
            <a:ext cx="1143000" cy="54864"/>
          </a:xfrm>
          <a:prstGeom prst="rect">
            <a:avLst/>
          </a:prstGeom>
          <a:gradFill rotWithShape="1">
            <a:gsLst>
              <a:gs pos="0">
                <a:srgbClr val="14A09A"/>
              </a:gs>
              <a:gs pos="100000">
                <a:srgbClr val="35B04A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2286000"/>
            <a:ext cx="2377439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91440" dist="32004" dir="5400000" rotWithShape="0">
              <a:srgbClr val="16302B">
                <a:alpha val="1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" y="2286000"/>
            <a:ext cx="2377439" cy="128016"/>
          </a:xfrm>
          <a:prstGeom prst="roundRect">
            <a:avLst/>
          </a:prstGeom>
          <a:gradFill rotWithShape="1">
            <a:gsLst>
              <a:gs pos="0">
                <a:srgbClr val="172A54"/>
              </a:gs>
              <a:gs pos="100000">
                <a:srgbClr val="3F5772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560320"/>
            <a:ext cx="192023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172A54"/>
                </a:solidFill>
                <a:latin typeface="Segoe UI"/>
              </a:rPr>
              <a:t>58.177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419856"/>
            <a:ext cx="19202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2303F"/>
                </a:solidFill>
                <a:latin typeface="Segoe UI"/>
              </a:rPr>
              <a:t>mulheres no total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647486"/>
                </a:solidFill>
                <a:latin typeface="Segoe UI"/>
              </a:rPr>
              <a:t>com dosagem de AMH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2286000"/>
            <a:ext cx="2377439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91440" dist="32004" dir="5400000" rotWithShape="0">
              <a:srgbClr val="16302B">
                <a:alpha val="1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401568" y="2286000"/>
            <a:ext cx="2377439" cy="128016"/>
          </a:xfrm>
          <a:prstGeom prst="roundRect">
            <a:avLst/>
          </a:prstGeom>
          <a:gradFill rotWithShape="1">
            <a:gsLst>
              <a:gs pos="0">
                <a:srgbClr val="1F6FB2"/>
              </a:gs>
              <a:gs pos="100000">
                <a:srgbClr val="479CD0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0" y="2560320"/>
            <a:ext cx="192023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1F6FB2"/>
                </a:solidFill>
                <a:latin typeface="Segoe UI"/>
              </a:rPr>
              <a:t>3.369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3419856"/>
            <a:ext cx="19202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2303F"/>
                </a:solidFill>
                <a:latin typeface="Segoe UI"/>
              </a:rPr>
              <a:t>com endometriose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647486"/>
                </a:solidFill>
                <a:latin typeface="Segoe UI"/>
              </a:rPr>
              <a:t>5,8% da coorte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069080"/>
            <a:ext cx="51206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22303F"/>
                </a:solidFill>
                <a:latin typeface="Segoe UI"/>
              </a:rPr>
              <a:t>Entre as mulheres com endometriose,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72A54"/>
                </a:solidFill>
                <a:latin typeface="Segoe UI"/>
              </a:rPr>
              <a:t>a maioria (62,9%) foi tratada clinicamente;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72A54"/>
                </a:solidFill>
                <a:latin typeface="Segoe UI"/>
              </a:rPr>
              <a:t>37,1% passaram por cirurgia.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78308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72A54"/>
                </a:solidFill>
                <a:latin typeface="Segoe UI"/>
              </a:rPr>
              <a:t>Manejo entre as com endometriose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6400800" y="2148840"/>
          <a:ext cx="4937760" cy="3703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2" name="Rectangle 21"/>
          <p:cNvSpPr/>
          <p:nvPr/>
        </p:nvSpPr>
        <p:spPr>
          <a:xfrm>
            <a:off x="566928" y="6419088"/>
            <a:ext cx="11064240" cy="11887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172A54"/>
                </a:solidFill>
                <a:latin typeface="Segoe UI"/>
              </a:rPr>
              <a:t>Highlights ESHRE 2026</a:t>
            </a:r>
            <a:r>
              <a:rPr sz="900" b="0">
                <a:solidFill>
                  <a:srgbClr val="647486"/>
                </a:solidFill>
                <a:latin typeface="Segoe UI"/>
              </a:rPr>
              <a:t>   ·   Dr. Rodolfo Salvato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473952"/>
            <a:ext cx="12070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6"/>
                </a:solidFill>
                <a:latin typeface="Segoe UI"/>
              </a:rPr>
              <a:t>12 / 20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50">
        <p159:morph option="byObject"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bbon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gradFill rotWithShape="1">
            <a:gsLst>
              <a:gs pos="0">
                <a:srgbClr val="172A54"/>
              </a:gs>
              <a:gs pos="55000">
                <a:srgbClr val="14A09A"/>
              </a:gs>
              <a:gs pos="100000">
                <a:srgbClr val="35B04A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ghost"/>
          <p:cNvSpPr/>
          <p:nvPr/>
        </p:nvSpPr>
        <p:spPr>
          <a:xfrm>
            <a:off x="8869680" y="4160520"/>
            <a:ext cx="5120640" cy="5120640"/>
          </a:xfrm>
          <a:prstGeom prst="ellipse">
            <a:avLst/>
          </a:prstGeom>
          <a:gradFill rotWithShape="1">
            <a:gsLst>
              <a:gs pos="0">
                <a:srgbClr val="E9F5F3"/>
              </a:gs>
              <a:gs pos="100000">
                <a:srgbClr val="FFFFFF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ot0"/>
          <p:cNvSpPr/>
          <p:nvPr/>
        </p:nvSpPr>
        <p:spPr>
          <a:xfrm>
            <a:off x="566928" y="420624"/>
            <a:ext cx="123444" cy="123444"/>
          </a:xfrm>
          <a:prstGeom prst="ellipse">
            <a:avLst/>
          </a:prstGeom>
          <a:solidFill>
            <a:srgbClr val="17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ot1"/>
          <p:cNvSpPr/>
          <p:nvPr/>
        </p:nvSpPr>
        <p:spPr>
          <a:xfrm>
            <a:off x="740664" y="420624"/>
            <a:ext cx="123444" cy="123444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ot2"/>
          <p:cNvSpPr/>
          <p:nvPr/>
        </p:nvSpPr>
        <p:spPr>
          <a:xfrm>
            <a:off x="914400" y="420624"/>
            <a:ext cx="123444" cy="123444"/>
          </a:xfrm>
          <a:prstGeom prst="ellipse">
            <a:avLst/>
          </a:prstGeom>
          <a:solidFill>
            <a:srgbClr val="14A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ot3"/>
          <p:cNvSpPr/>
          <p:nvPr/>
        </p:nvSpPr>
        <p:spPr>
          <a:xfrm>
            <a:off x="1088136" y="420624"/>
            <a:ext cx="123444" cy="123444"/>
          </a:xfrm>
          <a:prstGeom prst="ellipse">
            <a:avLst/>
          </a:prstGeom>
          <a:solidFill>
            <a:srgbClr val="35B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ot4"/>
          <p:cNvSpPr/>
          <p:nvPr/>
        </p:nvSpPr>
        <p:spPr>
          <a:xfrm>
            <a:off x="1261872" y="420624"/>
            <a:ext cx="123444" cy="123444"/>
          </a:xfrm>
          <a:prstGeom prst="ellipse">
            <a:avLst/>
          </a:prstGeom>
          <a:solidFill>
            <a:srgbClr val="7AC7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74980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4A09A"/>
                </a:solidFill>
                <a:latin typeface="Segoe UI"/>
              </a:rPr>
              <a:t>COMPARAÇÃO INICIAL (BASELINE)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60704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>
                <a:solidFill>
                  <a:srgbClr val="172A54"/>
                </a:solidFill>
                <a:latin typeface="Segoe UI"/>
              </a:rPr>
              <a:t>Clínico vs cirúrgico: perfil das pacientes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773936"/>
            <a:ext cx="1143000" cy="54864"/>
          </a:xfrm>
          <a:prstGeom prst="rect">
            <a:avLst/>
          </a:prstGeom>
          <a:gradFill rotWithShape="1">
            <a:gsLst>
              <a:gs pos="0">
                <a:srgbClr val="14A09A"/>
              </a:gs>
              <a:gs pos="100000">
                <a:srgbClr val="35B04A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874519"/>
            <a:ext cx="1069848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1">
                <a:solidFill>
                  <a:srgbClr val="14A09A"/>
                </a:solidFill>
                <a:latin typeface="Segoe UI"/>
              </a:rPr>
              <a:t>●  </a:t>
            </a:r>
            <a:r>
              <a:rPr sz="1750" b="1">
                <a:solidFill>
                  <a:srgbClr val="172A54"/>
                </a:solidFill>
                <a:latin typeface="Segoe UI"/>
              </a:rPr>
              <a:t>Grupos parecidos na maioria das características; </a:t>
            </a:r>
            <a:r>
              <a:rPr sz="1750">
                <a:solidFill>
                  <a:srgbClr val="22303F"/>
                </a:solidFill>
                <a:latin typeface="Segoe UI"/>
              </a:rPr>
              <a:t>as diferenças relevantes: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1">
                <a:solidFill>
                  <a:srgbClr val="14A09A"/>
                </a:solidFill>
                <a:latin typeface="Segoe UI"/>
              </a:rPr>
              <a:t>●  </a:t>
            </a:r>
            <a:r>
              <a:rPr sz="1750" b="1">
                <a:solidFill>
                  <a:srgbClr val="172A54"/>
                </a:solidFill>
                <a:latin typeface="Segoe UI"/>
              </a:rPr>
              <a:t>Morbidade (escore ADG) maior no grupo clínico </a:t>
            </a:r>
            <a:r>
              <a:rPr sz="1750">
                <a:solidFill>
                  <a:srgbClr val="22303F"/>
                </a:solidFill>
                <a:latin typeface="Segoe UI"/>
              </a:rPr>
              <a:t>(mediana 7,0 vs 4,0).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1">
                <a:solidFill>
                  <a:srgbClr val="14A09A"/>
                </a:solidFill>
                <a:latin typeface="Segoe UI"/>
              </a:rPr>
              <a:t>●  </a:t>
            </a:r>
            <a:r>
              <a:rPr sz="1750" b="1">
                <a:solidFill>
                  <a:srgbClr val="172A54"/>
                </a:solidFill>
                <a:latin typeface="Segoe UI"/>
              </a:rPr>
              <a:t>SOP mais comum no clínico </a:t>
            </a:r>
            <a:r>
              <a:rPr sz="1750">
                <a:solidFill>
                  <a:srgbClr val="22303F"/>
                </a:solidFill>
                <a:latin typeface="Segoe UI"/>
              </a:rPr>
              <a:t>(19,6% vs 15,0%).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1">
                <a:solidFill>
                  <a:srgbClr val="14A09A"/>
                </a:solidFill>
                <a:latin typeface="Segoe UI"/>
              </a:rPr>
              <a:t>●  </a:t>
            </a:r>
            <a:r>
              <a:rPr sz="1750" b="1">
                <a:solidFill>
                  <a:srgbClr val="172A54"/>
                </a:solidFill>
                <a:latin typeface="Segoe UI"/>
              </a:rPr>
              <a:t>Infertilidade maior no cirúrgico </a:t>
            </a:r>
            <a:r>
              <a:rPr sz="1750">
                <a:solidFill>
                  <a:srgbClr val="22303F"/>
                </a:solidFill>
                <a:latin typeface="Segoe UI"/>
              </a:rPr>
              <a:t>(96,3% vs 91,2%).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1">
                <a:solidFill>
                  <a:srgbClr val="14A09A"/>
                </a:solidFill>
                <a:latin typeface="Segoe UI"/>
              </a:rPr>
              <a:t>●  </a:t>
            </a:r>
            <a:r>
              <a:rPr sz="1750" b="1">
                <a:solidFill>
                  <a:srgbClr val="172A54"/>
                </a:solidFill>
                <a:latin typeface="Segoe UI"/>
              </a:rPr>
              <a:t>AMH bruto semelhante </a:t>
            </a:r>
            <a:r>
              <a:rPr sz="1750">
                <a:solidFill>
                  <a:srgbClr val="22303F"/>
                </a:solidFill>
                <a:latin typeface="Segoe UI"/>
              </a:rPr>
              <a:t>entre os grupos (mediana 1,73 vs 1,64 ng/mL).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6419088"/>
            <a:ext cx="11064240" cy="11887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172A54"/>
                </a:solidFill>
                <a:latin typeface="Segoe UI"/>
              </a:rPr>
              <a:t>Highlights ESHRE 2026</a:t>
            </a:r>
            <a:r>
              <a:rPr sz="900" b="0">
                <a:solidFill>
                  <a:srgbClr val="647486"/>
                </a:solidFill>
                <a:latin typeface="Segoe UI"/>
              </a:rPr>
              <a:t>   ·   Dr. Rodolfo Salvato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473952"/>
            <a:ext cx="12070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6"/>
                </a:solidFill>
                <a:latin typeface="Segoe UI"/>
              </a:rPr>
              <a:t>13 / 20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50">
        <p159:morph option="byObject"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bbon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gradFill rotWithShape="1">
            <a:gsLst>
              <a:gs pos="0">
                <a:srgbClr val="172A54"/>
              </a:gs>
              <a:gs pos="55000">
                <a:srgbClr val="14A09A"/>
              </a:gs>
              <a:gs pos="100000">
                <a:srgbClr val="35B04A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ot0"/>
          <p:cNvSpPr/>
          <p:nvPr/>
        </p:nvSpPr>
        <p:spPr>
          <a:xfrm>
            <a:off x="566928" y="420624"/>
            <a:ext cx="123444" cy="123444"/>
          </a:xfrm>
          <a:prstGeom prst="ellipse">
            <a:avLst/>
          </a:prstGeom>
          <a:solidFill>
            <a:srgbClr val="17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ot1"/>
          <p:cNvSpPr/>
          <p:nvPr/>
        </p:nvSpPr>
        <p:spPr>
          <a:xfrm>
            <a:off x="740664" y="420624"/>
            <a:ext cx="123444" cy="123444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ot2"/>
          <p:cNvSpPr/>
          <p:nvPr/>
        </p:nvSpPr>
        <p:spPr>
          <a:xfrm>
            <a:off x="914400" y="420624"/>
            <a:ext cx="123444" cy="123444"/>
          </a:xfrm>
          <a:prstGeom prst="ellipse">
            <a:avLst/>
          </a:prstGeom>
          <a:solidFill>
            <a:srgbClr val="14A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ot3"/>
          <p:cNvSpPr/>
          <p:nvPr/>
        </p:nvSpPr>
        <p:spPr>
          <a:xfrm>
            <a:off x="1088136" y="420624"/>
            <a:ext cx="123444" cy="123444"/>
          </a:xfrm>
          <a:prstGeom prst="ellipse">
            <a:avLst/>
          </a:prstGeom>
          <a:solidFill>
            <a:srgbClr val="35B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ot4"/>
          <p:cNvSpPr/>
          <p:nvPr/>
        </p:nvSpPr>
        <p:spPr>
          <a:xfrm>
            <a:off x="1261872" y="420624"/>
            <a:ext cx="123444" cy="123444"/>
          </a:xfrm>
          <a:prstGeom prst="ellipse">
            <a:avLst/>
          </a:prstGeom>
          <a:solidFill>
            <a:srgbClr val="7AC7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74980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4A09A"/>
                </a:solidFill>
                <a:latin typeface="Segoe UI"/>
              </a:rPr>
              <a:t>REGRESSÃO QUANTÍLICA AJUSTADA DE AMH (NG/ML)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60704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>
                <a:solidFill>
                  <a:srgbClr val="172A54"/>
                </a:solidFill>
                <a:latin typeface="Segoe UI"/>
              </a:rPr>
              <a:t>Resultado principal: AMH mais baixo na endometriose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773936"/>
            <a:ext cx="1143000" cy="54864"/>
          </a:xfrm>
          <a:prstGeom prst="rect">
            <a:avLst/>
          </a:prstGeom>
          <a:gradFill rotWithShape="1">
            <a:gsLst>
              <a:gs pos="0">
                <a:srgbClr val="14A09A"/>
              </a:gs>
              <a:gs pos="100000">
                <a:srgbClr val="35B04A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658368" y="1783080"/>
          <a:ext cx="7680960" cy="39776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8549640" y="1828800"/>
            <a:ext cx="2999232" cy="3840480"/>
          </a:xfrm>
          <a:prstGeom prst="roundRect">
            <a:avLst>
              <a:gd name="adj" fmla="val 6000"/>
            </a:avLst>
          </a:prstGeom>
          <a:solidFill>
            <a:srgbClr val="E9F5F0"/>
          </a:solidFill>
          <a:ln>
            <a:noFill/>
          </a:ln>
          <a:effectLst>
            <a:outerShdw blurRad="91440" dist="32004" dir="5400000" rotWithShape="0">
              <a:srgbClr val="16302B">
                <a:alpha val="1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96528" y="2084831"/>
            <a:ext cx="25786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72A54"/>
                </a:solidFill>
                <a:latin typeface="Segoe UI"/>
              </a:rPr>
              <a:t>Diferença ajustada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47486"/>
                </a:solidFill>
                <a:latin typeface="Segoe UI"/>
              </a:rPr>
              <a:t>(endo − sem endo)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96528" y="2944368"/>
            <a:ext cx="2578608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647486"/>
                </a:solidFill>
                <a:latin typeface="Segoe UI"/>
              </a:rPr>
              <a:t>P25</a:t>
            </a:r>
            <a:r>
              <a:rPr sz="1800" b="1">
                <a:solidFill>
                  <a:srgbClr val="14A09A"/>
                </a:solidFill>
                <a:latin typeface="Segoe UI"/>
              </a:rPr>
              <a:t>   −0,16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647486"/>
                </a:solidFill>
                <a:latin typeface="Segoe UI"/>
              </a:rPr>
              <a:t>P50</a:t>
            </a:r>
            <a:r>
              <a:rPr sz="1800" b="1">
                <a:solidFill>
                  <a:srgbClr val="1F6FB2"/>
                </a:solidFill>
                <a:latin typeface="Segoe UI"/>
              </a:rPr>
              <a:t>   −0,34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647486"/>
                </a:solidFill>
                <a:latin typeface="Segoe UI"/>
              </a:rPr>
              <a:t>P75</a:t>
            </a:r>
            <a:r>
              <a:rPr sz="1800" b="1">
                <a:solidFill>
                  <a:srgbClr val="172A54"/>
                </a:solidFill>
                <a:latin typeface="Segoe UI"/>
              </a:rPr>
              <a:t>   −0,62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600" b="0">
                <a:solidFill>
                  <a:srgbClr val="22303F"/>
                </a:solidFill>
                <a:latin typeface="Segoe UI"/>
              </a:rPr>
              <a:t/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22303F"/>
                </a:solidFill>
                <a:latin typeface="Segoe UI"/>
              </a:rPr>
              <a:t>Menor em toda a distribuição; maior nos percentis altos.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6419088"/>
            <a:ext cx="11064240" cy="11887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172A54"/>
                </a:solidFill>
                <a:latin typeface="Segoe UI"/>
              </a:rPr>
              <a:t>Highlights ESHRE 2026</a:t>
            </a:r>
            <a:r>
              <a:rPr sz="900" b="0">
                <a:solidFill>
                  <a:srgbClr val="647486"/>
                </a:solidFill>
                <a:latin typeface="Segoe UI"/>
              </a:rPr>
              <a:t>   ·   Dr. Rodolfo Salvato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473952"/>
            <a:ext cx="12070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6"/>
                </a:solidFill>
                <a:latin typeface="Segoe UI"/>
              </a:rPr>
              <a:t>14 / 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089904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>
                <a:solidFill>
                  <a:srgbClr val="647486"/>
                </a:solidFill>
                <a:latin typeface="Segoe UI"/>
              </a:rPr>
              <a:t>Fonte: Ghali et al., ESHRE 2026 — regressão quantílica ajustada (IC 95%).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50">
        <p159:morph option="byObject"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bbon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gradFill rotWithShape="1">
            <a:gsLst>
              <a:gs pos="0">
                <a:srgbClr val="172A54"/>
              </a:gs>
              <a:gs pos="55000">
                <a:srgbClr val="14A09A"/>
              </a:gs>
              <a:gs pos="100000">
                <a:srgbClr val="35B04A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ot0"/>
          <p:cNvSpPr/>
          <p:nvPr/>
        </p:nvSpPr>
        <p:spPr>
          <a:xfrm>
            <a:off x="566928" y="420624"/>
            <a:ext cx="123444" cy="123444"/>
          </a:xfrm>
          <a:prstGeom prst="ellipse">
            <a:avLst/>
          </a:prstGeom>
          <a:solidFill>
            <a:srgbClr val="17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ot1"/>
          <p:cNvSpPr/>
          <p:nvPr/>
        </p:nvSpPr>
        <p:spPr>
          <a:xfrm>
            <a:off x="740664" y="420624"/>
            <a:ext cx="123444" cy="123444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ot2"/>
          <p:cNvSpPr/>
          <p:nvPr/>
        </p:nvSpPr>
        <p:spPr>
          <a:xfrm>
            <a:off x="914400" y="420624"/>
            <a:ext cx="123444" cy="123444"/>
          </a:xfrm>
          <a:prstGeom prst="ellipse">
            <a:avLst/>
          </a:prstGeom>
          <a:solidFill>
            <a:srgbClr val="14A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ot3"/>
          <p:cNvSpPr/>
          <p:nvPr/>
        </p:nvSpPr>
        <p:spPr>
          <a:xfrm>
            <a:off x="1088136" y="420624"/>
            <a:ext cx="123444" cy="123444"/>
          </a:xfrm>
          <a:prstGeom prst="ellipse">
            <a:avLst/>
          </a:prstGeom>
          <a:solidFill>
            <a:srgbClr val="35B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ot4"/>
          <p:cNvSpPr/>
          <p:nvPr/>
        </p:nvSpPr>
        <p:spPr>
          <a:xfrm>
            <a:off x="1261872" y="420624"/>
            <a:ext cx="123444" cy="123444"/>
          </a:xfrm>
          <a:prstGeom prst="ellipse">
            <a:avLst/>
          </a:prstGeom>
          <a:solidFill>
            <a:srgbClr val="7AC7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74980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4A09A"/>
                </a:solidFill>
                <a:latin typeface="Segoe UI"/>
              </a:rPr>
              <a:t>AMH AJUSTADO POR ROTA DE TRATAMENTO (NG/ML)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60704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>
                <a:solidFill>
                  <a:srgbClr val="172A54"/>
                </a:solidFill>
                <a:latin typeface="Segoe UI"/>
              </a:rPr>
              <a:t>Clínico vs cirúrgico: AMH comparável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773936"/>
            <a:ext cx="1143000" cy="54864"/>
          </a:xfrm>
          <a:prstGeom prst="rect">
            <a:avLst/>
          </a:prstGeom>
          <a:gradFill rotWithShape="1">
            <a:gsLst>
              <a:gs pos="0">
                <a:srgbClr val="14A09A"/>
              </a:gs>
              <a:gs pos="100000">
                <a:srgbClr val="35B04A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658368" y="1783080"/>
          <a:ext cx="7680960" cy="39776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8549640" y="1828800"/>
            <a:ext cx="2999232" cy="3840480"/>
          </a:xfrm>
          <a:prstGeom prst="roundRect">
            <a:avLst>
              <a:gd name="adj" fmla="val 6000"/>
            </a:avLst>
          </a:prstGeom>
          <a:solidFill>
            <a:srgbClr val="EFF4FA"/>
          </a:solidFill>
          <a:ln>
            <a:noFill/>
          </a:ln>
          <a:effectLst>
            <a:outerShdw blurRad="91440" dist="32004" dir="5400000" rotWithShape="0">
              <a:srgbClr val="16302B">
                <a:alpha val="1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96528" y="2121408"/>
            <a:ext cx="2578608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>
                <a:solidFill>
                  <a:srgbClr val="172A54"/>
                </a:solidFill>
                <a:latin typeface="Segoe UI"/>
              </a:rPr>
              <a:t>Diferenças ajustadas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>
                <a:solidFill>
                  <a:srgbClr val="647486"/>
                </a:solidFill>
                <a:latin typeface="Segoe UI"/>
              </a:rPr>
              <a:t>(cirúrgico − clínico):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400" b="0">
                <a:solidFill>
                  <a:srgbClr val="22303F"/>
                </a:solidFill>
                <a:latin typeface="Segoe UI"/>
              </a:rPr>
              <a:t/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>
                <a:solidFill>
                  <a:srgbClr val="22303F"/>
                </a:solidFill>
                <a:latin typeface="Segoe UI"/>
              </a:rPr>
              <a:t>P25  +0,07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>
                <a:solidFill>
                  <a:srgbClr val="22303F"/>
                </a:solidFill>
                <a:latin typeface="Segoe UI"/>
              </a:rPr>
              <a:t>P50  +0,01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>
                <a:solidFill>
                  <a:srgbClr val="22303F"/>
                </a:solidFill>
                <a:latin typeface="Segoe UI"/>
              </a:rPr>
              <a:t>P75  +0,08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400" b="0">
                <a:solidFill>
                  <a:srgbClr val="22303F"/>
                </a:solidFill>
                <a:latin typeface="Segoe UI"/>
              </a:rPr>
              <a:t/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>
                <a:solidFill>
                  <a:srgbClr val="22303F"/>
                </a:solidFill>
                <a:latin typeface="Segoe UI"/>
              </a:rPr>
              <a:t>Todos os IC 95% cruzam o zero: sem diferença significativa.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6419088"/>
            <a:ext cx="11064240" cy="11887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172A54"/>
                </a:solidFill>
                <a:latin typeface="Segoe UI"/>
              </a:rPr>
              <a:t>Highlights ESHRE 2026</a:t>
            </a:r>
            <a:r>
              <a:rPr sz="900" b="0">
                <a:solidFill>
                  <a:srgbClr val="647486"/>
                </a:solidFill>
                <a:latin typeface="Segoe UI"/>
              </a:rPr>
              <a:t>   ·   Dr. Rodolfo Salvato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6473952"/>
            <a:ext cx="12070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6"/>
                </a:solidFill>
                <a:latin typeface="Segoe UI"/>
              </a:rPr>
              <a:t>15 / 20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50">
        <p159:morph option="byObject"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bbon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gradFill rotWithShape="1">
            <a:gsLst>
              <a:gs pos="0">
                <a:srgbClr val="172A54"/>
              </a:gs>
              <a:gs pos="55000">
                <a:srgbClr val="14A09A"/>
              </a:gs>
              <a:gs pos="100000">
                <a:srgbClr val="35B04A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ot0"/>
          <p:cNvSpPr/>
          <p:nvPr/>
        </p:nvSpPr>
        <p:spPr>
          <a:xfrm>
            <a:off x="566928" y="420624"/>
            <a:ext cx="123444" cy="123444"/>
          </a:xfrm>
          <a:prstGeom prst="ellipse">
            <a:avLst/>
          </a:prstGeom>
          <a:solidFill>
            <a:srgbClr val="17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ot1"/>
          <p:cNvSpPr/>
          <p:nvPr/>
        </p:nvSpPr>
        <p:spPr>
          <a:xfrm>
            <a:off x="740664" y="420624"/>
            <a:ext cx="123444" cy="123444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ot2"/>
          <p:cNvSpPr/>
          <p:nvPr/>
        </p:nvSpPr>
        <p:spPr>
          <a:xfrm>
            <a:off x="914400" y="420624"/>
            <a:ext cx="123444" cy="123444"/>
          </a:xfrm>
          <a:prstGeom prst="ellipse">
            <a:avLst/>
          </a:prstGeom>
          <a:solidFill>
            <a:srgbClr val="14A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ot3"/>
          <p:cNvSpPr/>
          <p:nvPr/>
        </p:nvSpPr>
        <p:spPr>
          <a:xfrm>
            <a:off x="1088136" y="420624"/>
            <a:ext cx="123444" cy="123444"/>
          </a:xfrm>
          <a:prstGeom prst="ellipse">
            <a:avLst/>
          </a:prstGeom>
          <a:solidFill>
            <a:srgbClr val="35B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ot4"/>
          <p:cNvSpPr/>
          <p:nvPr/>
        </p:nvSpPr>
        <p:spPr>
          <a:xfrm>
            <a:off x="1261872" y="420624"/>
            <a:ext cx="123444" cy="123444"/>
          </a:xfrm>
          <a:prstGeom prst="ellipse">
            <a:avLst/>
          </a:prstGeom>
          <a:solidFill>
            <a:srgbClr val="7AC7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74980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4A09A"/>
                </a:solidFill>
                <a:latin typeface="Segoe UI"/>
              </a:rPr>
              <a:t>DESFECHO SECUNDÁRIO — CRITÉRIO DE BOLOGNA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60704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>
                <a:solidFill>
                  <a:srgbClr val="172A54"/>
                </a:solidFill>
                <a:latin typeface="Segoe UI"/>
              </a:rPr>
              <a:t>AMH baixo (&lt; 1,1 ng/mL): mais frequente na endometriose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773936"/>
            <a:ext cx="1143000" cy="54864"/>
          </a:xfrm>
          <a:prstGeom prst="rect">
            <a:avLst/>
          </a:prstGeom>
          <a:gradFill rotWithShape="1">
            <a:gsLst>
              <a:gs pos="0">
                <a:srgbClr val="14A09A"/>
              </a:gs>
              <a:gs pos="100000">
                <a:srgbClr val="35B04A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810512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72A54"/>
                </a:solidFill>
                <a:latin typeface="Segoe UI"/>
              </a:rPr>
              <a:t>Proporção de mulheres com AMH &lt; 1,1 ng/mL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58368" y="2194560"/>
          <a:ext cx="557784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675120" y="2286000"/>
            <a:ext cx="4846320" cy="3108960"/>
          </a:xfrm>
          <a:prstGeom prst="roundRect">
            <a:avLst>
              <a:gd name="adj" fmla="val 6000"/>
            </a:avLst>
          </a:prstGeom>
          <a:solidFill>
            <a:srgbClr val="E9F5F0"/>
          </a:solidFill>
          <a:ln>
            <a:noFill/>
          </a:ln>
          <a:effectLst>
            <a:outerShdw blurRad="91440" dist="32004" dir="5400000" rotWithShape="0">
              <a:srgbClr val="16302B">
                <a:alpha val="1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22592" y="2578608"/>
            <a:ext cx="4251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72A54"/>
                </a:solidFill>
                <a:latin typeface="Segoe UI"/>
              </a:rPr>
              <a:t>Risco relativo ajustado (aRR)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22592" y="3063240"/>
            <a:ext cx="4251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5800" b="1">
                <a:solidFill>
                  <a:srgbClr val="35B04A"/>
                </a:solidFill>
                <a:latin typeface="Segoe UI"/>
              </a:rPr>
              <a:t>1,21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22592" y="4114800"/>
            <a:ext cx="4251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647486"/>
                </a:solidFill>
                <a:latin typeface="Segoe UI"/>
              </a:rPr>
              <a:t>IC 95%  1,15 – 1,26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2303F"/>
                </a:solidFill>
                <a:latin typeface="Segoe UI"/>
              </a:rPr>
              <a:t>21% mais risco de AMH baixo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6419088"/>
            <a:ext cx="11064240" cy="11887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172A54"/>
                </a:solidFill>
                <a:latin typeface="Segoe UI"/>
              </a:rPr>
              <a:t>Highlights ESHRE 2026</a:t>
            </a:r>
            <a:r>
              <a:rPr sz="900" b="0">
                <a:solidFill>
                  <a:srgbClr val="647486"/>
                </a:solidFill>
                <a:latin typeface="Segoe UI"/>
              </a:rPr>
              <a:t>   ·   Dr. Rodolfo Salvato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473952"/>
            <a:ext cx="12070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6"/>
                </a:solidFill>
                <a:latin typeface="Segoe UI"/>
              </a:rPr>
              <a:t>16 / 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89904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>
                <a:solidFill>
                  <a:srgbClr val="647486"/>
                </a:solidFill>
                <a:latin typeface="Segoe UI"/>
              </a:rPr>
              <a:t>Fonte: Regressão de Poisson ajustada.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50">
        <p159:morph option="byObject"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bbon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gradFill rotWithShape="1">
            <a:gsLst>
              <a:gs pos="0">
                <a:srgbClr val="172A54"/>
              </a:gs>
              <a:gs pos="55000">
                <a:srgbClr val="14A09A"/>
              </a:gs>
              <a:gs pos="100000">
                <a:srgbClr val="35B04A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ot0"/>
          <p:cNvSpPr/>
          <p:nvPr/>
        </p:nvSpPr>
        <p:spPr>
          <a:xfrm>
            <a:off x="566928" y="420624"/>
            <a:ext cx="123444" cy="123444"/>
          </a:xfrm>
          <a:prstGeom prst="ellipse">
            <a:avLst/>
          </a:prstGeom>
          <a:solidFill>
            <a:srgbClr val="17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ot1"/>
          <p:cNvSpPr/>
          <p:nvPr/>
        </p:nvSpPr>
        <p:spPr>
          <a:xfrm>
            <a:off x="740664" y="420624"/>
            <a:ext cx="123444" cy="123444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ot2"/>
          <p:cNvSpPr/>
          <p:nvPr/>
        </p:nvSpPr>
        <p:spPr>
          <a:xfrm>
            <a:off x="914400" y="420624"/>
            <a:ext cx="123444" cy="123444"/>
          </a:xfrm>
          <a:prstGeom prst="ellipse">
            <a:avLst/>
          </a:prstGeom>
          <a:solidFill>
            <a:srgbClr val="14A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ot3"/>
          <p:cNvSpPr/>
          <p:nvPr/>
        </p:nvSpPr>
        <p:spPr>
          <a:xfrm>
            <a:off x="1088136" y="420624"/>
            <a:ext cx="123444" cy="123444"/>
          </a:xfrm>
          <a:prstGeom prst="ellipse">
            <a:avLst/>
          </a:prstGeom>
          <a:solidFill>
            <a:srgbClr val="35B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ot4"/>
          <p:cNvSpPr/>
          <p:nvPr/>
        </p:nvSpPr>
        <p:spPr>
          <a:xfrm>
            <a:off x="1261872" y="420624"/>
            <a:ext cx="123444" cy="123444"/>
          </a:xfrm>
          <a:prstGeom prst="ellipse">
            <a:avLst/>
          </a:prstGeom>
          <a:solidFill>
            <a:srgbClr val="7AC7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74980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4A09A"/>
                </a:solidFill>
                <a:latin typeface="Segoe UI"/>
              </a:rPr>
              <a:t>RISCO RELATIVO AJUSTADO (ARR) — REFERÊNCIA = 1,0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60704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>
                <a:solidFill>
                  <a:srgbClr val="172A54"/>
                </a:solidFill>
                <a:latin typeface="Segoe UI"/>
              </a:rPr>
              <a:t>AMH baixo por tipo de manejo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773936"/>
            <a:ext cx="1143000" cy="54864"/>
          </a:xfrm>
          <a:prstGeom prst="rect">
            <a:avLst/>
          </a:prstGeom>
          <a:gradFill rotWithShape="1">
            <a:gsLst>
              <a:gs pos="0">
                <a:srgbClr val="14A09A"/>
              </a:gs>
              <a:gs pos="100000">
                <a:srgbClr val="35B04A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658368" y="1920240"/>
          <a:ext cx="6583680" cy="3703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7498079" y="2148840"/>
            <a:ext cx="4023360" cy="3246120"/>
          </a:xfrm>
          <a:prstGeom prst="roundRect">
            <a:avLst>
              <a:gd name="adj" fmla="val 6000"/>
            </a:avLst>
          </a:prstGeom>
          <a:solidFill>
            <a:srgbClr val="EFF4FA"/>
          </a:solidFill>
          <a:ln>
            <a:noFill/>
          </a:ln>
          <a:effectLst>
            <a:outerShdw blurRad="91440" dist="32004" dir="5400000" rotWithShape="0">
              <a:srgbClr val="16302B">
                <a:alpha val="1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90688" y="2423160"/>
            <a:ext cx="352044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F6FB2"/>
                </a:solidFill>
                <a:latin typeface="Segoe UI"/>
              </a:rPr>
              <a:t>Clínico</a:t>
            </a:r>
            <a:r>
              <a:rPr sz="1200" b="0">
                <a:solidFill>
                  <a:srgbClr val="647486"/>
                </a:solidFill>
                <a:latin typeface="Segoe UI"/>
              </a:rPr>
              <a:t>  (n=2.119)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2303F"/>
                </a:solidFill>
                <a:latin typeface="Segoe UI"/>
              </a:rPr>
              <a:t>aRR 1,23 · +23%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647486"/>
                </a:solidFill>
                <a:latin typeface="Segoe UI"/>
              </a:rPr>
              <a:t>IC 95% 1,17–1,30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800" b="0">
                <a:solidFill>
                  <a:srgbClr val="22303F"/>
                </a:solidFill>
                <a:latin typeface="Segoe U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35B04A"/>
                </a:solidFill>
                <a:latin typeface="Segoe UI"/>
              </a:rPr>
              <a:t>Cirúrgico</a:t>
            </a:r>
            <a:r>
              <a:rPr sz="1200" b="0">
                <a:solidFill>
                  <a:srgbClr val="647486"/>
                </a:solidFill>
                <a:latin typeface="Segoe UI"/>
              </a:rPr>
              <a:t>  (n=1.250)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2303F"/>
                </a:solidFill>
                <a:latin typeface="Segoe UI"/>
              </a:rPr>
              <a:t>aRR 1,16 · +16%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647486"/>
                </a:solidFill>
                <a:latin typeface="Segoe UI"/>
              </a:rPr>
              <a:t>IC 95% 1,08–1,25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800" b="0">
                <a:solidFill>
                  <a:srgbClr val="22303F"/>
                </a:solidFill>
                <a:latin typeface="Segoe U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172A54"/>
                </a:solidFill>
                <a:latin typeface="Segoe UI"/>
              </a:rPr>
              <a:t>Risco maior nos dois: não depende de operar.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6419088"/>
            <a:ext cx="11064240" cy="11887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172A54"/>
                </a:solidFill>
                <a:latin typeface="Segoe UI"/>
              </a:rPr>
              <a:t>Highlights ESHRE 2026</a:t>
            </a:r>
            <a:r>
              <a:rPr sz="900" b="0">
                <a:solidFill>
                  <a:srgbClr val="647486"/>
                </a:solidFill>
                <a:latin typeface="Segoe UI"/>
              </a:rPr>
              <a:t>   ·   Dr. Rodolfo Salvato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6473952"/>
            <a:ext cx="12070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6"/>
                </a:solidFill>
                <a:latin typeface="Segoe UI"/>
              </a:rPr>
              <a:t>17 / 20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50">
        <p159:morph option="byObject"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bbon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gradFill rotWithShape="1">
            <a:gsLst>
              <a:gs pos="0">
                <a:srgbClr val="172A54"/>
              </a:gs>
              <a:gs pos="55000">
                <a:srgbClr val="14A09A"/>
              </a:gs>
              <a:gs pos="100000">
                <a:srgbClr val="35B04A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ghost"/>
          <p:cNvSpPr/>
          <p:nvPr/>
        </p:nvSpPr>
        <p:spPr>
          <a:xfrm>
            <a:off x="8869680" y="4160520"/>
            <a:ext cx="5120640" cy="5120640"/>
          </a:xfrm>
          <a:prstGeom prst="ellipse">
            <a:avLst/>
          </a:prstGeom>
          <a:gradFill rotWithShape="1">
            <a:gsLst>
              <a:gs pos="0">
                <a:srgbClr val="E9F5F3"/>
              </a:gs>
              <a:gs pos="100000">
                <a:srgbClr val="FFFFFF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ot0"/>
          <p:cNvSpPr/>
          <p:nvPr/>
        </p:nvSpPr>
        <p:spPr>
          <a:xfrm>
            <a:off x="566928" y="420624"/>
            <a:ext cx="123444" cy="123444"/>
          </a:xfrm>
          <a:prstGeom prst="ellipse">
            <a:avLst/>
          </a:prstGeom>
          <a:solidFill>
            <a:srgbClr val="17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ot1"/>
          <p:cNvSpPr/>
          <p:nvPr/>
        </p:nvSpPr>
        <p:spPr>
          <a:xfrm>
            <a:off x="740664" y="420624"/>
            <a:ext cx="123444" cy="123444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ot2"/>
          <p:cNvSpPr/>
          <p:nvPr/>
        </p:nvSpPr>
        <p:spPr>
          <a:xfrm>
            <a:off x="914400" y="420624"/>
            <a:ext cx="123444" cy="123444"/>
          </a:xfrm>
          <a:prstGeom prst="ellipse">
            <a:avLst/>
          </a:prstGeom>
          <a:solidFill>
            <a:srgbClr val="14A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ot3"/>
          <p:cNvSpPr/>
          <p:nvPr/>
        </p:nvSpPr>
        <p:spPr>
          <a:xfrm>
            <a:off x="1088136" y="420624"/>
            <a:ext cx="123444" cy="123444"/>
          </a:xfrm>
          <a:prstGeom prst="ellipse">
            <a:avLst/>
          </a:prstGeom>
          <a:solidFill>
            <a:srgbClr val="35B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ot4"/>
          <p:cNvSpPr/>
          <p:nvPr/>
        </p:nvSpPr>
        <p:spPr>
          <a:xfrm>
            <a:off x="1261872" y="420624"/>
            <a:ext cx="123444" cy="123444"/>
          </a:xfrm>
          <a:prstGeom prst="ellipse">
            <a:avLst/>
          </a:prstGeom>
          <a:solidFill>
            <a:srgbClr val="7AC7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74980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4A09A"/>
                </a:solidFill>
                <a:latin typeface="Segoe UI"/>
              </a:rPr>
              <a:t>OUTRAS EVIDÊNCIAS RECENTES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60704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>
                <a:solidFill>
                  <a:srgbClr val="172A54"/>
                </a:solidFill>
                <a:latin typeface="Segoe UI"/>
              </a:rPr>
              <a:t>A literatura de apoio concorda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773936"/>
            <a:ext cx="1143000" cy="54864"/>
          </a:xfrm>
          <a:prstGeom prst="rect">
            <a:avLst/>
          </a:prstGeom>
          <a:gradFill rotWithShape="1">
            <a:gsLst>
              <a:gs pos="0">
                <a:srgbClr val="14A09A"/>
              </a:gs>
              <a:gs pos="100000">
                <a:srgbClr val="35B04A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783080"/>
            <a:ext cx="1069848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>
                <a:solidFill>
                  <a:srgbClr val="14A09A"/>
                </a:solidFill>
                <a:latin typeface="Segoe UI"/>
              </a:rPr>
              <a:t>●  </a:t>
            </a:r>
            <a:r>
              <a:rPr sz="1650" b="1">
                <a:solidFill>
                  <a:srgbClr val="172A54"/>
                </a:solidFill>
                <a:latin typeface="Segoe UI"/>
              </a:rPr>
              <a:t>Endometriose confirmada por laparoscopia: </a:t>
            </a:r>
            <a:r>
              <a:rPr sz="1650">
                <a:solidFill>
                  <a:srgbClr val="22303F"/>
                </a:solidFill>
                <a:latin typeface="Segoe UI"/>
              </a:rPr>
              <a:t>AMH ~29,6% menor que sem a doença (Farland et al., 2024).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>
                <a:solidFill>
                  <a:srgbClr val="14A09A"/>
                </a:solidFill>
                <a:latin typeface="Segoe UI"/>
              </a:rPr>
              <a:t>●  </a:t>
            </a:r>
            <a:r>
              <a:rPr sz="1650" b="1">
                <a:solidFill>
                  <a:srgbClr val="172A54"/>
                </a:solidFill>
                <a:latin typeface="Segoe UI"/>
              </a:rPr>
              <a:t>Meta-análise: </a:t>
            </a:r>
            <a:r>
              <a:rPr sz="1650">
                <a:solidFill>
                  <a:srgbClr val="22303F"/>
                </a:solidFill>
                <a:latin typeface="Segoe UI"/>
              </a:rPr>
              <a:t>AMH e contagem de folículos menores, mesmo sem cirurgia (Tian et al., 2021).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>
                <a:solidFill>
                  <a:srgbClr val="14A09A"/>
                </a:solidFill>
                <a:latin typeface="Segoe UI"/>
              </a:rPr>
              <a:t>●  </a:t>
            </a:r>
            <a:r>
              <a:rPr sz="1650" b="1">
                <a:solidFill>
                  <a:srgbClr val="172A54"/>
                </a:solidFill>
                <a:latin typeface="Segoe UI"/>
              </a:rPr>
              <a:t>Só a presença de endometrioma </a:t>
            </a:r>
            <a:r>
              <a:rPr sz="1650">
                <a:solidFill>
                  <a:srgbClr val="22303F"/>
                </a:solidFill>
                <a:latin typeface="Segoe UI"/>
              </a:rPr>
              <a:t>já reduz o AMH, vs cistos benignos e ovários saudáveis (Muzii et al., Fertil Steril 2018).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>
                <a:solidFill>
                  <a:srgbClr val="14A09A"/>
                </a:solidFill>
                <a:latin typeface="Segoe UI"/>
              </a:rPr>
              <a:t>●  </a:t>
            </a:r>
            <a:r>
              <a:rPr sz="1650" b="1">
                <a:solidFill>
                  <a:srgbClr val="172A54"/>
                </a:solidFill>
                <a:latin typeface="Segoe UI"/>
              </a:rPr>
              <a:t>A endometriose acelera o declínio da reserva com a idade </a:t>
            </a:r>
            <a:r>
              <a:rPr sz="1650">
                <a:solidFill>
                  <a:srgbClr val="22303F"/>
                </a:solidFill>
                <a:latin typeface="Segoe UI"/>
              </a:rPr>
              <a:t>(Tehrani et al., 2025).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>
                <a:solidFill>
                  <a:srgbClr val="14A09A"/>
                </a:solidFill>
                <a:latin typeface="Segoe UI"/>
              </a:rPr>
              <a:t>●  </a:t>
            </a:r>
            <a:r>
              <a:rPr sz="1650" b="1">
                <a:solidFill>
                  <a:srgbClr val="172A54"/>
                </a:solidFill>
                <a:latin typeface="Segoe UI"/>
              </a:rPr>
              <a:t>Mesmo grupo (Velez/IC·ES): </a:t>
            </a:r>
            <a:r>
              <a:rPr sz="1650">
                <a:solidFill>
                  <a:srgbClr val="22303F"/>
                </a:solidFill>
                <a:latin typeface="Segoe UI"/>
              </a:rPr>
              <a:t>endometriose associada a maior risco de falência ovariana precoce (Macintyre et al., Hum Reprod 2026).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5303520"/>
            <a:ext cx="10881360" cy="685800"/>
          </a:xfrm>
          <a:prstGeom prst="roundRect">
            <a:avLst>
              <a:gd name="adj" fmla="val 6000"/>
            </a:avLst>
          </a:prstGeom>
          <a:solidFill>
            <a:srgbClr val="E9F5F0"/>
          </a:solidFill>
          <a:ln>
            <a:noFill/>
          </a:ln>
          <a:effectLst>
            <a:outerShdw blurRad="91440" dist="32004" dir="5400000" rotWithShape="0">
              <a:srgbClr val="16302B">
                <a:alpha val="1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5303520"/>
            <a:ext cx="109728" cy="685800"/>
          </a:xfrm>
          <a:prstGeom prst="rect">
            <a:avLst/>
          </a:prstGeom>
          <a:solidFill>
            <a:srgbClr val="35B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5394960"/>
            <a:ext cx="102412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72A54"/>
                </a:solidFill>
                <a:latin typeface="Segoe UI"/>
              </a:rPr>
              <a:t>Reconhecido pela diretriz de endometriose da ESHRE (2022).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6419088"/>
            <a:ext cx="11064240" cy="11887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172A54"/>
                </a:solidFill>
                <a:latin typeface="Segoe UI"/>
              </a:rPr>
              <a:t>Highlights ESHRE 2026</a:t>
            </a:r>
            <a:r>
              <a:rPr sz="900" b="0">
                <a:solidFill>
                  <a:srgbClr val="647486"/>
                </a:solidFill>
                <a:latin typeface="Segoe UI"/>
              </a:rPr>
              <a:t>   ·   Dr. Rodolfo Salvato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60" y="6473952"/>
            <a:ext cx="12070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6"/>
                </a:solidFill>
                <a:latin typeface="Segoe UI"/>
              </a:rPr>
              <a:t>18 / 20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50">
        <p159:morph option="byObject"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bbon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gradFill rotWithShape="1">
            <a:gsLst>
              <a:gs pos="0">
                <a:srgbClr val="172A54"/>
              </a:gs>
              <a:gs pos="55000">
                <a:srgbClr val="14A09A"/>
              </a:gs>
              <a:gs pos="100000">
                <a:srgbClr val="35B04A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ghost"/>
          <p:cNvSpPr/>
          <p:nvPr/>
        </p:nvSpPr>
        <p:spPr>
          <a:xfrm>
            <a:off x="8869680" y="4160520"/>
            <a:ext cx="5120640" cy="5120640"/>
          </a:xfrm>
          <a:prstGeom prst="ellipse">
            <a:avLst/>
          </a:prstGeom>
          <a:gradFill rotWithShape="1">
            <a:gsLst>
              <a:gs pos="0">
                <a:srgbClr val="E9F5F3"/>
              </a:gs>
              <a:gs pos="100000">
                <a:srgbClr val="FFFFFF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ot0"/>
          <p:cNvSpPr/>
          <p:nvPr/>
        </p:nvSpPr>
        <p:spPr>
          <a:xfrm>
            <a:off x="566928" y="420624"/>
            <a:ext cx="123444" cy="123444"/>
          </a:xfrm>
          <a:prstGeom prst="ellipse">
            <a:avLst/>
          </a:prstGeom>
          <a:solidFill>
            <a:srgbClr val="17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ot1"/>
          <p:cNvSpPr/>
          <p:nvPr/>
        </p:nvSpPr>
        <p:spPr>
          <a:xfrm>
            <a:off x="740664" y="420624"/>
            <a:ext cx="123444" cy="123444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ot2"/>
          <p:cNvSpPr/>
          <p:nvPr/>
        </p:nvSpPr>
        <p:spPr>
          <a:xfrm>
            <a:off x="914400" y="420624"/>
            <a:ext cx="123444" cy="123444"/>
          </a:xfrm>
          <a:prstGeom prst="ellipse">
            <a:avLst/>
          </a:prstGeom>
          <a:solidFill>
            <a:srgbClr val="14A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ot3"/>
          <p:cNvSpPr/>
          <p:nvPr/>
        </p:nvSpPr>
        <p:spPr>
          <a:xfrm>
            <a:off x="1088136" y="420624"/>
            <a:ext cx="123444" cy="123444"/>
          </a:xfrm>
          <a:prstGeom prst="ellipse">
            <a:avLst/>
          </a:prstGeom>
          <a:solidFill>
            <a:srgbClr val="35B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ot4"/>
          <p:cNvSpPr/>
          <p:nvPr/>
        </p:nvSpPr>
        <p:spPr>
          <a:xfrm>
            <a:off x="1261872" y="420624"/>
            <a:ext cx="123444" cy="123444"/>
          </a:xfrm>
          <a:prstGeom prst="ellipse">
            <a:avLst/>
          </a:prstGeom>
          <a:solidFill>
            <a:srgbClr val="7AC7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74980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4A09A"/>
                </a:solidFill>
                <a:latin typeface="Segoe UI"/>
              </a:rPr>
              <a:t>O QUE O ESTUDO MOSTROU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60704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>
                <a:solidFill>
                  <a:srgbClr val="172A54"/>
                </a:solidFill>
                <a:latin typeface="Segoe UI"/>
              </a:rPr>
              <a:t>Conclusões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773936"/>
            <a:ext cx="1143000" cy="54864"/>
          </a:xfrm>
          <a:prstGeom prst="rect">
            <a:avLst/>
          </a:prstGeom>
          <a:gradFill rotWithShape="1">
            <a:gsLst>
              <a:gs pos="0">
                <a:srgbClr val="14A09A"/>
              </a:gs>
              <a:gs pos="100000">
                <a:srgbClr val="35B04A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920240"/>
            <a:ext cx="1069848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1300"/>
              </a:spcAft>
            </a:pPr>
            <a:r>
              <a:rPr sz="1400" b="1">
                <a:solidFill>
                  <a:srgbClr val="14A09A"/>
                </a:solidFill>
                <a:latin typeface="Segoe UI"/>
              </a:rPr>
              <a:t>●  </a:t>
            </a:r>
            <a:r>
              <a:rPr sz="1800" b="1">
                <a:solidFill>
                  <a:srgbClr val="172A54"/>
                </a:solidFill>
                <a:latin typeface="Segoe UI"/>
              </a:rPr>
              <a:t>AMH mais baixo em toda a distribuição, </a:t>
            </a:r>
            <a:r>
              <a:rPr sz="1800">
                <a:solidFill>
                  <a:srgbClr val="22303F"/>
                </a:solidFill>
                <a:latin typeface="Segoe UI"/>
              </a:rPr>
              <a:t>com maior diferença nos percentis altos.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300"/>
              </a:spcAft>
            </a:pPr>
            <a:r>
              <a:rPr sz="1400" b="1">
                <a:solidFill>
                  <a:srgbClr val="14A09A"/>
                </a:solidFill>
                <a:latin typeface="Segoe UI"/>
              </a:rPr>
              <a:t>●  </a:t>
            </a:r>
            <a:r>
              <a:rPr sz="1800" b="1">
                <a:solidFill>
                  <a:srgbClr val="172A54"/>
                </a:solidFill>
                <a:latin typeface="Segoe UI"/>
              </a:rPr>
              <a:t>Mais mulheres com AMH baixo (&lt; 1,1) </a:t>
            </a:r>
            <a:r>
              <a:rPr sz="1800">
                <a:solidFill>
                  <a:srgbClr val="22303F"/>
                </a:solidFill>
                <a:latin typeface="Segoe UI"/>
              </a:rPr>
              <a:t>no grupo com endometriose.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300"/>
              </a:spcAft>
            </a:pPr>
            <a:r>
              <a:rPr sz="1400" b="1">
                <a:solidFill>
                  <a:srgbClr val="14A09A"/>
                </a:solidFill>
                <a:latin typeface="Segoe UI"/>
              </a:rPr>
              <a:t>●  </a:t>
            </a:r>
            <a:r>
              <a:rPr sz="1800" b="1">
                <a:solidFill>
                  <a:srgbClr val="172A54"/>
                </a:solidFill>
                <a:latin typeface="Segoe UI"/>
              </a:rPr>
              <a:t>AMH semelhante </a:t>
            </a:r>
            <a:r>
              <a:rPr sz="1800">
                <a:solidFill>
                  <a:srgbClr val="22303F"/>
                </a:solidFill>
                <a:latin typeface="Segoe UI"/>
              </a:rPr>
              <a:t>entre manejo clínico e cirúrgico.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300"/>
              </a:spcAft>
            </a:pPr>
            <a:r>
              <a:rPr sz="1400" b="1">
                <a:solidFill>
                  <a:srgbClr val="14A09A"/>
                </a:solidFill>
                <a:latin typeface="Segoe UI"/>
              </a:rPr>
              <a:t>●  </a:t>
            </a:r>
            <a:r>
              <a:rPr sz="1800" b="1">
                <a:solidFill>
                  <a:srgbClr val="172A54"/>
                </a:solidFill>
                <a:latin typeface="Segoe UI"/>
              </a:rPr>
              <a:t>A associação com baixa reserva ovariana </a:t>
            </a:r>
            <a:r>
              <a:rPr sz="1800">
                <a:solidFill>
                  <a:srgbClr val="22303F"/>
                </a:solidFill>
                <a:latin typeface="Segoe UI"/>
              </a:rPr>
              <a:t>pode não se explicar só pela cirurgia → a própria doença tem papel.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6419088"/>
            <a:ext cx="11064240" cy="11887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172A54"/>
                </a:solidFill>
                <a:latin typeface="Segoe UI"/>
              </a:rPr>
              <a:t>Highlights ESHRE 2026</a:t>
            </a:r>
            <a:r>
              <a:rPr sz="900" b="0">
                <a:solidFill>
                  <a:srgbClr val="647486"/>
                </a:solidFill>
                <a:latin typeface="Segoe UI"/>
              </a:rPr>
              <a:t>   ·   Dr. Rodolfo Salvato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473952"/>
            <a:ext cx="12070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6"/>
                </a:solidFill>
                <a:latin typeface="Segoe UI"/>
              </a:rPr>
              <a:t>19 / 20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50">
        <p159:morph option="byObject"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bbon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gradFill rotWithShape="1">
            <a:gsLst>
              <a:gs pos="0">
                <a:srgbClr val="172A54"/>
              </a:gs>
              <a:gs pos="55000">
                <a:srgbClr val="14A09A"/>
              </a:gs>
              <a:gs pos="100000">
                <a:srgbClr val="35B04A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ot0"/>
          <p:cNvSpPr/>
          <p:nvPr/>
        </p:nvSpPr>
        <p:spPr>
          <a:xfrm>
            <a:off x="566928" y="420624"/>
            <a:ext cx="123444" cy="123444"/>
          </a:xfrm>
          <a:prstGeom prst="ellipse">
            <a:avLst/>
          </a:prstGeom>
          <a:solidFill>
            <a:srgbClr val="17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ot1"/>
          <p:cNvSpPr/>
          <p:nvPr/>
        </p:nvSpPr>
        <p:spPr>
          <a:xfrm>
            <a:off x="740664" y="420624"/>
            <a:ext cx="123444" cy="123444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ot2"/>
          <p:cNvSpPr/>
          <p:nvPr/>
        </p:nvSpPr>
        <p:spPr>
          <a:xfrm>
            <a:off x="914400" y="420624"/>
            <a:ext cx="123444" cy="123444"/>
          </a:xfrm>
          <a:prstGeom prst="ellipse">
            <a:avLst/>
          </a:prstGeom>
          <a:solidFill>
            <a:srgbClr val="14A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ot3"/>
          <p:cNvSpPr/>
          <p:nvPr/>
        </p:nvSpPr>
        <p:spPr>
          <a:xfrm>
            <a:off x="1088136" y="420624"/>
            <a:ext cx="123444" cy="123444"/>
          </a:xfrm>
          <a:prstGeom prst="ellipse">
            <a:avLst/>
          </a:prstGeom>
          <a:solidFill>
            <a:srgbClr val="35B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ot4"/>
          <p:cNvSpPr/>
          <p:nvPr/>
        </p:nvSpPr>
        <p:spPr>
          <a:xfrm>
            <a:off x="1261872" y="420624"/>
            <a:ext cx="123444" cy="123444"/>
          </a:xfrm>
          <a:prstGeom prst="ellipse">
            <a:avLst/>
          </a:prstGeom>
          <a:solidFill>
            <a:srgbClr val="7AC7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74980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4A09A"/>
                </a:solidFill>
                <a:latin typeface="Segoe UI"/>
              </a:rPr>
              <a:t>DA EVIDÊNCIA PARA A PRÁTICA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60704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>
                <a:solidFill>
                  <a:srgbClr val="172A54"/>
                </a:solidFill>
                <a:latin typeface="Segoe UI"/>
              </a:rPr>
              <a:t>Implicações clínicas e mensagem final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773936"/>
            <a:ext cx="1143000" cy="54864"/>
          </a:xfrm>
          <a:prstGeom prst="rect">
            <a:avLst/>
          </a:prstGeom>
          <a:gradFill rotWithShape="1">
            <a:gsLst>
              <a:gs pos="0">
                <a:srgbClr val="14A09A"/>
              </a:gs>
              <a:gs pos="100000">
                <a:srgbClr val="35B04A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783080"/>
            <a:ext cx="1069848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14A09A"/>
                </a:solidFill>
                <a:latin typeface="Segoe UI"/>
              </a:rPr>
              <a:t>●  </a:t>
            </a:r>
            <a:r>
              <a:rPr sz="1750" b="1">
                <a:solidFill>
                  <a:srgbClr val="172A54"/>
                </a:solidFill>
                <a:latin typeface="Segoe UI"/>
              </a:rPr>
              <a:t>Consulta e planejamento reprodutivo mais cedo </a:t>
            </a:r>
            <a:r>
              <a:rPr sz="1750">
                <a:solidFill>
                  <a:srgbClr val="22303F"/>
                </a:solidFill>
                <a:latin typeface="Segoe UI"/>
              </a:rPr>
              <a:t>para mulheres com endometriose.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14A09A"/>
                </a:solidFill>
                <a:latin typeface="Segoe UI"/>
              </a:rPr>
              <a:t>●  </a:t>
            </a:r>
            <a:r>
              <a:rPr sz="1750" b="1">
                <a:solidFill>
                  <a:srgbClr val="172A54"/>
                </a:solidFill>
                <a:latin typeface="Segoe UI"/>
              </a:rPr>
              <a:t>Educação da paciente já no diagnóstico, </a:t>
            </a:r>
            <a:r>
              <a:rPr sz="1750">
                <a:solidFill>
                  <a:srgbClr val="22303F"/>
                </a:solidFill>
                <a:latin typeface="Segoe UI"/>
              </a:rPr>
              <a:t>com aconselhamento individualizado (recomendações OMS: acesso equitativo à fertilidade).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017520"/>
            <a:ext cx="10881360" cy="1051560"/>
          </a:xfrm>
          <a:prstGeom prst="roundRect">
            <a:avLst>
              <a:gd name="adj" fmla="val 6000"/>
            </a:avLst>
          </a:prstGeom>
          <a:solidFill>
            <a:srgbClr val="E9F5F0"/>
          </a:solidFill>
          <a:ln>
            <a:noFill/>
          </a:ln>
          <a:effectLst>
            <a:outerShdw blurRad="91440" dist="32004" dir="5400000" rotWithShape="0">
              <a:srgbClr val="16302B">
                <a:alpha val="1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3017520"/>
            <a:ext cx="146304" cy="1051560"/>
          </a:xfrm>
          <a:prstGeom prst="rect">
            <a:avLst/>
          </a:prstGeom>
          <a:gradFill rotWithShape="1">
            <a:gsLst>
              <a:gs pos="0">
                <a:srgbClr val="14A09A"/>
              </a:gs>
              <a:gs pos="100000">
                <a:srgbClr val="35B04A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3154680"/>
            <a:ext cx="102412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35B04A"/>
                </a:solidFill>
                <a:latin typeface="Segoe UI"/>
              </a:rPr>
              <a:t>Take-home:  </a:t>
            </a:r>
            <a:r>
              <a:rPr sz="1700" b="0">
                <a:solidFill>
                  <a:srgbClr val="22303F"/>
                </a:solidFill>
                <a:latin typeface="Segoe UI"/>
              </a:rPr>
              <a:t>endometriose é um sinal de alerta para a reserva ovariana. Investigar e planejar cedo faz diferença.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297680"/>
            <a:ext cx="525780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91440" dist="32004" dir="5400000" rotWithShape="0">
              <a:srgbClr val="16302B">
                <a:alpha val="1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480560"/>
            <a:ext cx="48463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72A54"/>
                </a:solidFill>
                <a:latin typeface="Segoe UI"/>
              </a:rPr>
              <a:t>Forças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22303F"/>
                </a:solidFill>
                <a:latin typeface="Segoe UI"/>
              </a:rPr>
              <a:t>• Grande coorte populacional, sistema de saúde universal.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22303F"/>
                </a:solidFill>
                <a:latin typeface="Segoe UI"/>
              </a:rPr>
              <a:t>• AMH: medida robusta e independente do ciclo.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81928" y="4297680"/>
            <a:ext cx="525780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91440" dist="32004" dir="5400000" rotWithShape="0">
              <a:srgbClr val="16302B">
                <a:alpha val="1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4480560"/>
            <a:ext cx="48463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72A54"/>
                </a:solidFill>
                <a:latin typeface="Segoe UI"/>
              </a:rPr>
              <a:t>Limitações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22303F"/>
                </a:solidFill>
                <a:latin typeface="Segoe UI"/>
              </a:rPr>
              <a:t>• Dados administrativos não captam estágio, gravidade nem terapia hormonal.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22303F"/>
                </a:solidFill>
                <a:latin typeface="Segoe UI"/>
              </a:rPr>
              <a:t>• 87% da coorte tinha infertilidade → limita a generalização.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6419088"/>
            <a:ext cx="11064240" cy="11887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172A54"/>
                </a:solidFill>
                <a:latin typeface="Segoe UI"/>
              </a:rPr>
              <a:t>Highlights ESHRE 2026</a:t>
            </a:r>
            <a:r>
              <a:rPr sz="900" b="0">
                <a:solidFill>
                  <a:srgbClr val="647486"/>
                </a:solidFill>
                <a:latin typeface="Segoe UI"/>
              </a:rPr>
              <a:t>   ·   Dr. Rodolfo Salvato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6473952"/>
            <a:ext cx="12070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6"/>
                </a:solidFill>
                <a:latin typeface="Segoe UI"/>
              </a:rPr>
              <a:t>20 / 20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50">
        <p159:morph option="byObject"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